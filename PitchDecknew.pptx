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ptos" charset="1" panose="020B0004020202020204"/>
      <p:regular r:id="rId11"/>
    </p:embeddedFont>
    <p:embeddedFont>
      <p:font typeface="Aptos Bold" charset="1" panose="020B0004020202020204"/>
      <p:regular r:id="rId12"/>
    </p:embeddedFont>
    <p:embeddedFont>
      <p:font typeface="Aptos Bold Italics" charset="1" panose="020B0004020202090204"/>
      <p:regular r:id="rId13"/>
    </p:embeddedFont>
    <p:embeddedFont>
      <p:font typeface="Arial Bold" charset="1" panose="020B0704020202020204"/>
      <p:regular r:id="rId17"/>
    </p:embeddedFont>
    <p:embeddedFont>
      <p:font typeface="Arial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jpeg" Type="http://schemas.openxmlformats.org/officeDocument/2006/relationships/image"/><Relationship Id="rId4" Target="../media/VAHA0HvKz2E.mp4" Type="http://schemas.openxmlformats.org/officeDocument/2006/relationships/video"/><Relationship Id="rId5" Target="../media/VAHA0HvKz2E.mp4" Type="http://schemas.microsoft.com/office/2007/relationships/media"/><Relationship Id="rId6" Target="../media/image12.jpeg" Type="http://schemas.openxmlformats.org/officeDocument/2006/relationships/image"/><Relationship Id="rId7" Target="../media/VAHA0CJ2XqU.mp4" Type="http://schemas.openxmlformats.org/officeDocument/2006/relationships/video"/><Relationship Id="rId8" Target="../media/VAHA0CJ2XqU.mp4" Type="http://schemas.microsoft.com/office/2007/relationships/media"/><Relationship Id="rId9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jpeg" Type="http://schemas.openxmlformats.org/officeDocument/2006/relationships/image"/><Relationship Id="rId4" Target="../media/VAHA0AenBKM.mp4" Type="http://schemas.openxmlformats.org/officeDocument/2006/relationships/video"/><Relationship Id="rId5" Target="../media/VAHA0AenBKM.mp4" Type="http://schemas.microsoft.com/office/2007/relationships/media"/><Relationship Id="rId6" Target="../media/image15.jpeg" Type="http://schemas.openxmlformats.org/officeDocument/2006/relationships/image"/><Relationship Id="rId7" Target="../media/VAHA0FA4lrc.mp4" Type="http://schemas.openxmlformats.org/officeDocument/2006/relationships/video"/><Relationship Id="rId8" Target="../media/VAHA0FA4lrc.mp4" Type="http://schemas.microsoft.com/office/2007/relationships/media"/><Relationship Id="rId9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4172" y="-9457883"/>
            <a:ext cx="20517202" cy="26058500"/>
          </a:xfrm>
          <a:custGeom>
            <a:avLst/>
            <a:gdLst/>
            <a:ahLst/>
            <a:cxnLst/>
            <a:rect r="r" b="b" t="t" l="l"/>
            <a:pathLst>
              <a:path h="26058500" w="20517202">
                <a:moveTo>
                  <a:pt x="0" y="0"/>
                </a:moveTo>
                <a:lnTo>
                  <a:pt x="20517202" y="0"/>
                </a:lnTo>
                <a:lnTo>
                  <a:pt x="20517202" y="26058500"/>
                </a:lnTo>
                <a:lnTo>
                  <a:pt x="0" y="26058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88" r="0" b="-90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06355" y="-1358469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90" y="0"/>
                </a:lnTo>
                <a:lnTo>
                  <a:pt x="1007529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07869" y="4868410"/>
            <a:ext cx="13533120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Your smart money companion—effortless tracking, powerful insights, personal financial guidance, and habit-building features that grow with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11520" y="3333242"/>
            <a:ext cx="66649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b="true" sz="375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Build habits that</a:t>
            </a:r>
            <a:r>
              <a:rPr lang="en-US" b="true" sz="3750">
                <a:solidFill>
                  <a:srgbClr val="CFCDE1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b="true" sz="3750" i="true">
                <a:gradFill>
                  <a:gsLst>
                    <a:gs pos="0">
                      <a:srgbClr val="00FFFF">
                        <a:alpha val="90000"/>
                      </a:srgbClr>
                    </a:gs>
                    <a:gs pos="100000">
                      <a:srgbClr val="007AAE">
                        <a:alpha val="100000"/>
                      </a:srgbClr>
                    </a:gs>
                  </a:gsLst>
                  <a:lin ang="0"/>
                </a:gradFill>
                <a:latin typeface="Aptos Bold Italics"/>
                <a:ea typeface="Aptos Bold Italics"/>
                <a:cs typeface="Aptos Bold Italics"/>
                <a:sym typeface="Aptos Bold Italics"/>
              </a:rPr>
              <a:t>grow with you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" y="-8544693"/>
            <a:ext cx="19240770" cy="18831693"/>
          </a:xfrm>
          <a:custGeom>
            <a:avLst/>
            <a:gdLst/>
            <a:ahLst/>
            <a:cxnLst/>
            <a:rect r="r" b="b" t="t" l="l"/>
            <a:pathLst>
              <a:path h="18831693" w="19240770">
                <a:moveTo>
                  <a:pt x="0" y="0"/>
                </a:moveTo>
                <a:lnTo>
                  <a:pt x="19240770" y="0"/>
                </a:lnTo>
                <a:lnTo>
                  <a:pt x="19240770" y="18831693"/>
                </a:lnTo>
                <a:lnTo>
                  <a:pt x="0" y="18831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857" r="0" b="-1385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1460" y="-397192"/>
            <a:ext cx="15773400" cy="1988344"/>
            <a:chOff x="0" y="0"/>
            <a:chExt cx="21031200" cy="26511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Problem Statement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1845404" y="-4015054"/>
            <a:ext cx="876071" cy="11479530"/>
            <a:chOff x="0" y="0"/>
            <a:chExt cx="1168095" cy="15306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12700"/>
              <a:ext cx="1142746" cy="15280639"/>
            </a:xfrm>
            <a:custGeom>
              <a:avLst/>
              <a:gdLst/>
              <a:ahLst/>
              <a:cxnLst/>
              <a:rect r="r" b="b" t="t" l="l"/>
              <a:pathLst>
                <a:path h="15280639" w="1142746">
                  <a:moveTo>
                    <a:pt x="190500" y="0"/>
                  </a:moveTo>
                  <a:lnTo>
                    <a:pt x="952246" y="0"/>
                  </a:lnTo>
                  <a:cubicBezTo>
                    <a:pt x="1057402" y="0"/>
                    <a:pt x="1142746" y="86995"/>
                    <a:pt x="1142746" y="194310"/>
                  </a:cubicBezTo>
                  <a:lnTo>
                    <a:pt x="1142746" y="15280639"/>
                  </a:lnTo>
                  <a:lnTo>
                    <a:pt x="0" y="15280639"/>
                  </a:lnTo>
                  <a:lnTo>
                    <a:pt x="0" y="194310"/>
                  </a:lnTo>
                  <a:cubicBezTo>
                    <a:pt x="0" y="86995"/>
                    <a:pt x="85217" y="0"/>
                    <a:pt x="190500" y="0"/>
                  </a:cubicBezTo>
                  <a:close/>
                </a:path>
              </a:pathLst>
            </a:custGeom>
            <a:solidFill>
              <a:srgbClr val="DFCDDC">
                <a:alpha val="80784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68146" cy="15306039"/>
            </a:xfrm>
            <a:custGeom>
              <a:avLst/>
              <a:gdLst/>
              <a:ahLst/>
              <a:cxnLst/>
              <a:rect r="r" b="b" t="t" l="l"/>
              <a:pathLst>
                <a:path h="15306039" w="1168146">
                  <a:moveTo>
                    <a:pt x="203200" y="0"/>
                  </a:moveTo>
                  <a:lnTo>
                    <a:pt x="964946" y="0"/>
                  </a:lnTo>
                  <a:lnTo>
                    <a:pt x="964946" y="12700"/>
                  </a:lnTo>
                  <a:lnTo>
                    <a:pt x="964946" y="0"/>
                  </a:lnTo>
                  <a:cubicBezTo>
                    <a:pt x="1077341" y="0"/>
                    <a:pt x="1168146" y="92964"/>
                    <a:pt x="1168146" y="207010"/>
                  </a:cubicBezTo>
                  <a:lnTo>
                    <a:pt x="1155446" y="207010"/>
                  </a:lnTo>
                  <a:lnTo>
                    <a:pt x="1168146" y="207010"/>
                  </a:lnTo>
                  <a:lnTo>
                    <a:pt x="1168146" y="15293339"/>
                  </a:lnTo>
                  <a:cubicBezTo>
                    <a:pt x="1168146" y="15300325"/>
                    <a:pt x="1162431" y="15306039"/>
                    <a:pt x="1155446" y="15306039"/>
                  </a:cubicBezTo>
                  <a:lnTo>
                    <a:pt x="12700" y="15306039"/>
                  </a:lnTo>
                  <a:cubicBezTo>
                    <a:pt x="5715" y="15306039"/>
                    <a:pt x="0" y="15300325"/>
                    <a:pt x="0" y="15293339"/>
                  </a:cubicBezTo>
                  <a:lnTo>
                    <a:pt x="0" y="207010"/>
                  </a:lnTo>
                  <a:lnTo>
                    <a:pt x="12700" y="207010"/>
                  </a:lnTo>
                  <a:lnTo>
                    <a:pt x="0" y="207010"/>
                  </a:lnTo>
                  <a:cubicBezTo>
                    <a:pt x="0" y="92964"/>
                    <a:pt x="90678" y="0"/>
                    <a:pt x="203200" y="0"/>
                  </a:cubicBezTo>
                  <a:cubicBezTo>
                    <a:pt x="207137" y="0"/>
                    <a:pt x="210947" y="1905"/>
                    <a:pt x="213360" y="4953"/>
                  </a:cubicBezTo>
                  <a:lnTo>
                    <a:pt x="203200" y="12700"/>
                  </a:lnTo>
                  <a:lnTo>
                    <a:pt x="203200" y="0"/>
                  </a:lnTo>
                  <a:moveTo>
                    <a:pt x="203200" y="25400"/>
                  </a:moveTo>
                  <a:cubicBezTo>
                    <a:pt x="199263" y="25400"/>
                    <a:pt x="195453" y="23495"/>
                    <a:pt x="193040" y="20447"/>
                  </a:cubicBezTo>
                  <a:lnTo>
                    <a:pt x="203200" y="12700"/>
                  </a:lnTo>
                  <a:lnTo>
                    <a:pt x="203200" y="25400"/>
                  </a:lnTo>
                  <a:cubicBezTo>
                    <a:pt x="105283" y="25400"/>
                    <a:pt x="25400" y="106426"/>
                    <a:pt x="25400" y="207010"/>
                  </a:cubicBezTo>
                  <a:lnTo>
                    <a:pt x="25400" y="15293339"/>
                  </a:lnTo>
                  <a:lnTo>
                    <a:pt x="12700" y="15293339"/>
                  </a:lnTo>
                  <a:lnTo>
                    <a:pt x="12700" y="15280639"/>
                  </a:lnTo>
                  <a:lnTo>
                    <a:pt x="1155446" y="15280639"/>
                  </a:lnTo>
                  <a:lnTo>
                    <a:pt x="1155446" y="15293339"/>
                  </a:lnTo>
                  <a:lnTo>
                    <a:pt x="1142746" y="15293339"/>
                  </a:lnTo>
                  <a:lnTo>
                    <a:pt x="1142746" y="207010"/>
                  </a:lnTo>
                  <a:cubicBezTo>
                    <a:pt x="1142746" y="106426"/>
                    <a:pt x="1062863" y="25400"/>
                    <a:pt x="964946" y="25400"/>
                  </a:cubicBezTo>
                  <a:lnTo>
                    <a:pt x="203200" y="25400"/>
                  </a:lnTo>
                  <a:close/>
                </a:path>
              </a:pathLst>
            </a:custGeom>
            <a:solidFill>
              <a:srgbClr val="DFCDDC">
                <a:alpha val="80784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43675" y="1328518"/>
            <a:ext cx="11437696" cy="792394"/>
            <a:chOff x="0" y="0"/>
            <a:chExt cx="15250262" cy="10565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50258" cy="1056532"/>
            </a:xfrm>
            <a:custGeom>
              <a:avLst/>
              <a:gdLst/>
              <a:ahLst/>
              <a:cxnLst/>
              <a:rect r="r" b="b" t="t" l="l"/>
              <a:pathLst>
                <a:path h="1056532" w="15250258">
                  <a:moveTo>
                    <a:pt x="0" y="0"/>
                  </a:moveTo>
                  <a:lnTo>
                    <a:pt x="15250258" y="0"/>
                  </a:lnTo>
                  <a:lnTo>
                    <a:pt x="15250258" y="1056532"/>
                  </a:lnTo>
                  <a:lnTo>
                    <a:pt x="0" y="10565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252" r="0" b="-2312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5250262" cy="1027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People struggle to maintain the habit </a:t>
              </a:r>
              <a:r>
                <a:rPr lang="en-US" b="true" sz="24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of manually noting expenses</a:t>
              </a: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making it easy </a:t>
              </a:r>
              <a:r>
                <a:rPr lang="en-US" b="true" sz="24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 miss where money goes.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680" y="1189072"/>
            <a:ext cx="6446520" cy="1071277"/>
            <a:chOff x="0" y="0"/>
            <a:chExt cx="8595360" cy="14283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95360" cy="1428369"/>
            </a:xfrm>
            <a:custGeom>
              <a:avLst/>
              <a:gdLst/>
              <a:ahLst/>
              <a:cxnLst/>
              <a:rect r="r" b="b" t="t" l="l"/>
              <a:pathLst>
                <a:path h="1428369" w="8595360">
                  <a:moveTo>
                    <a:pt x="0" y="238125"/>
                  </a:moveTo>
                  <a:cubicBezTo>
                    <a:pt x="0" y="106553"/>
                    <a:pt x="106553" y="0"/>
                    <a:pt x="238125" y="0"/>
                  </a:cubicBezTo>
                  <a:lnTo>
                    <a:pt x="8357235" y="0"/>
                  </a:lnTo>
                  <a:cubicBezTo>
                    <a:pt x="8488680" y="0"/>
                    <a:pt x="8595360" y="106553"/>
                    <a:pt x="8595360" y="238125"/>
                  </a:cubicBezTo>
                  <a:lnTo>
                    <a:pt x="8595360" y="1190244"/>
                  </a:lnTo>
                  <a:cubicBezTo>
                    <a:pt x="8595360" y="1321689"/>
                    <a:pt x="8488807" y="1428369"/>
                    <a:pt x="8357235" y="1428369"/>
                  </a:cubicBezTo>
                  <a:lnTo>
                    <a:pt x="238125" y="1428369"/>
                  </a:lnTo>
                  <a:cubicBezTo>
                    <a:pt x="106553" y="1428369"/>
                    <a:pt x="0" y="1321816"/>
                    <a:pt x="0" y="119024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C52A0">
                    <a:alpha val="100000"/>
                  </a:srgbClr>
                </a:gs>
                <a:gs pos="50000">
                  <a:srgbClr val="A62598">
                    <a:alpha val="100000"/>
                  </a:srgbClr>
                </a:gs>
                <a:gs pos="100000">
                  <a:srgbClr val="981B8A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9447" y="1231849"/>
            <a:ext cx="6360976" cy="985733"/>
            <a:chOff x="0" y="0"/>
            <a:chExt cx="8481301" cy="13143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81301" cy="1314310"/>
            </a:xfrm>
            <a:custGeom>
              <a:avLst/>
              <a:gdLst/>
              <a:ahLst/>
              <a:cxnLst/>
              <a:rect r="r" b="b" t="t" l="l"/>
              <a:pathLst>
                <a:path h="1314310" w="8481301">
                  <a:moveTo>
                    <a:pt x="0" y="0"/>
                  </a:moveTo>
                  <a:lnTo>
                    <a:pt x="8481301" y="0"/>
                  </a:lnTo>
                  <a:lnTo>
                    <a:pt x="8481301" y="1314310"/>
                  </a:lnTo>
                  <a:lnTo>
                    <a:pt x="0" y="131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0" y="0"/>
              <a:ext cx="8481301" cy="1314310"/>
              <a:chOff x="0" y="0"/>
              <a:chExt cx="8481301" cy="13143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481304" cy="1314314"/>
              </a:xfrm>
              <a:custGeom>
                <a:avLst/>
                <a:gdLst/>
                <a:ahLst/>
                <a:cxnLst/>
                <a:rect r="r" b="b" t="t" l="l"/>
                <a:pathLst>
                  <a:path h="1314314" w="8481304">
                    <a:moveTo>
                      <a:pt x="0" y="0"/>
                    </a:moveTo>
                    <a:lnTo>
                      <a:pt x="8481304" y="0"/>
                    </a:lnTo>
                    <a:lnTo>
                      <a:pt x="8481304" y="1314314"/>
                    </a:lnTo>
                    <a:lnTo>
                      <a:pt x="0" y="131431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75737" r="0" b="-75737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38100"/>
                <a:ext cx="8481301" cy="12762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Expense tracking is exhausting and inconsistent</a:t>
                </a: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5400000">
            <a:off x="11845404" y="-2890209"/>
            <a:ext cx="876071" cy="11479530"/>
            <a:chOff x="0" y="0"/>
            <a:chExt cx="1168095" cy="15306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1142746" cy="15280639"/>
            </a:xfrm>
            <a:custGeom>
              <a:avLst/>
              <a:gdLst/>
              <a:ahLst/>
              <a:cxnLst/>
              <a:rect r="r" b="b" t="t" l="l"/>
              <a:pathLst>
                <a:path h="15280639" w="1142746">
                  <a:moveTo>
                    <a:pt x="190500" y="0"/>
                  </a:moveTo>
                  <a:lnTo>
                    <a:pt x="952246" y="0"/>
                  </a:lnTo>
                  <a:cubicBezTo>
                    <a:pt x="1057402" y="0"/>
                    <a:pt x="1142746" y="86995"/>
                    <a:pt x="1142746" y="194310"/>
                  </a:cubicBezTo>
                  <a:lnTo>
                    <a:pt x="1142746" y="15280639"/>
                  </a:lnTo>
                  <a:lnTo>
                    <a:pt x="0" y="15280639"/>
                  </a:lnTo>
                  <a:lnTo>
                    <a:pt x="0" y="194310"/>
                  </a:lnTo>
                  <a:cubicBezTo>
                    <a:pt x="0" y="86995"/>
                    <a:pt x="85217" y="0"/>
                    <a:pt x="190500" y="0"/>
                  </a:cubicBezTo>
                  <a:close/>
                </a:path>
              </a:pathLst>
            </a:custGeom>
            <a:solidFill>
              <a:srgbClr val="E0DBB5">
                <a:alpha val="80784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68146" cy="15306039"/>
            </a:xfrm>
            <a:custGeom>
              <a:avLst/>
              <a:gdLst/>
              <a:ahLst/>
              <a:cxnLst/>
              <a:rect r="r" b="b" t="t" l="l"/>
              <a:pathLst>
                <a:path h="15306039" w="1168146">
                  <a:moveTo>
                    <a:pt x="203200" y="0"/>
                  </a:moveTo>
                  <a:lnTo>
                    <a:pt x="964946" y="0"/>
                  </a:lnTo>
                  <a:lnTo>
                    <a:pt x="964946" y="12700"/>
                  </a:lnTo>
                  <a:lnTo>
                    <a:pt x="964946" y="0"/>
                  </a:lnTo>
                  <a:cubicBezTo>
                    <a:pt x="1077341" y="0"/>
                    <a:pt x="1168146" y="92964"/>
                    <a:pt x="1168146" y="207010"/>
                  </a:cubicBezTo>
                  <a:lnTo>
                    <a:pt x="1155446" y="207010"/>
                  </a:lnTo>
                  <a:lnTo>
                    <a:pt x="1168146" y="207010"/>
                  </a:lnTo>
                  <a:lnTo>
                    <a:pt x="1168146" y="15293339"/>
                  </a:lnTo>
                  <a:cubicBezTo>
                    <a:pt x="1168146" y="15300325"/>
                    <a:pt x="1162431" y="15306039"/>
                    <a:pt x="1155446" y="15306039"/>
                  </a:cubicBezTo>
                  <a:lnTo>
                    <a:pt x="12700" y="15306039"/>
                  </a:lnTo>
                  <a:cubicBezTo>
                    <a:pt x="5715" y="15306039"/>
                    <a:pt x="0" y="15300325"/>
                    <a:pt x="0" y="15293339"/>
                  </a:cubicBezTo>
                  <a:lnTo>
                    <a:pt x="0" y="207010"/>
                  </a:lnTo>
                  <a:lnTo>
                    <a:pt x="12700" y="207010"/>
                  </a:lnTo>
                  <a:lnTo>
                    <a:pt x="0" y="207010"/>
                  </a:lnTo>
                  <a:cubicBezTo>
                    <a:pt x="0" y="92964"/>
                    <a:pt x="90678" y="0"/>
                    <a:pt x="203200" y="0"/>
                  </a:cubicBezTo>
                  <a:cubicBezTo>
                    <a:pt x="207137" y="0"/>
                    <a:pt x="210947" y="1905"/>
                    <a:pt x="213360" y="4953"/>
                  </a:cubicBezTo>
                  <a:lnTo>
                    <a:pt x="203200" y="12700"/>
                  </a:lnTo>
                  <a:lnTo>
                    <a:pt x="203200" y="0"/>
                  </a:lnTo>
                  <a:moveTo>
                    <a:pt x="203200" y="25400"/>
                  </a:moveTo>
                  <a:cubicBezTo>
                    <a:pt x="199263" y="25400"/>
                    <a:pt x="195453" y="23495"/>
                    <a:pt x="193040" y="20447"/>
                  </a:cubicBezTo>
                  <a:lnTo>
                    <a:pt x="203200" y="12700"/>
                  </a:lnTo>
                  <a:lnTo>
                    <a:pt x="203200" y="25400"/>
                  </a:lnTo>
                  <a:cubicBezTo>
                    <a:pt x="105283" y="25400"/>
                    <a:pt x="25400" y="106426"/>
                    <a:pt x="25400" y="207010"/>
                  </a:cubicBezTo>
                  <a:lnTo>
                    <a:pt x="25400" y="15293339"/>
                  </a:lnTo>
                  <a:lnTo>
                    <a:pt x="12700" y="15293339"/>
                  </a:lnTo>
                  <a:lnTo>
                    <a:pt x="12700" y="15280639"/>
                  </a:lnTo>
                  <a:lnTo>
                    <a:pt x="1155446" y="15280639"/>
                  </a:lnTo>
                  <a:lnTo>
                    <a:pt x="1155446" y="15293339"/>
                  </a:lnTo>
                  <a:lnTo>
                    <a:pt x="1142746" y="15293339"/>
                  </a:lnTo>
                  <a:lnTo>
                    <a:pt x="1142746" y="207010"/>
                  </a:lnTo>
                  <a:cubicBezTo>
                    <a:pt x="1142746" y="106426"/>
                    <a:pt x="1062863" y="25400"/>
                    <a:pt x="964946" y="25400"/>
                  </a:cubicBezTo>
                  <a:lnTo>
                    <a:pt x="203200" y="25400"/>
                  </a:lnTo>
                  <a:close/>
                </a:path>
              </a:pathLst>
            </a:custGeom>
            <a:solidFill>
              <a:srgbClr val="E0DBB5">
                <a:alpha val="8078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543675" y="2453354"/>
            <a:ext cx="11437696" cy="792394"/>
            <a:chOff x="0" y="0"/>
            <a:chExt cx="15250262" cy="10565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50258" cy="1056532"/>
            </a:xfrm>
            <a:custGeom>
              <a:avLst/>
              <a:gdLst/>
              <a:ahLst/>
              <a:cxnLst/>
              <a:rect r="r" b="b" t="t" l="l"/>
              <a:pathLst>
                <a:path h="1056532" w="15250258">
                  <a:moveTo>
                    <a:pt x="0" y="0"/>
                  </a:moveTo>
                  <a:lnTo>
                    <a:pt x="15250258" y="0"/>
                  </a:lnTo>
                  <a:lnTo>
                    <a:pt x="15250258" y="1056532"/>
                  </a:lnTo>
                  <a:lnTo>
                    <a:pt x="0" y="10565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252" r="0" b="-23125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15250262" cy="1027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Notes and spreadsheets </a:t>
              </a:r>
              <a:r>
                <a:rPr lang="en-US" b="true" sz="24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fail to show clear patterns, categories, money leaks, or long-term trends.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6680" y="2313918"/>
            <a:ext cx="6446520" cy="1071277"/>
            <a:chOff x="0" y="0"/>
            <a:chExt cx="8595360" cy="14283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95360" cy="1428369"/>
            </a:xfrm>
            <a:custGeom>
              <a:avLst/>
              <a:gdLst/>
              <a:ahLst/>
              <a:cxnLst/>
              <a:rect r="r" b="b" t="t" l="l"/>
              <a:pathLst>
                <a:path h="1428369" w="8595360">
                  <a:moveTo>
                    <a:pt x="0" y="238125"/>
                  </a:moveTo>
                  <a:cubicBezTo>
                    <a:pt x="0" y="106553"/>
                    <a:pt x="106553" y="0"/>
                    <a:pt x="238125" y="0"/>
                  </a:cubicBezTo>
                  <a:lnTo>
                    <a:pt x="8357235" y="0"/>
                  </a:lnTo>
                  <a:cubicBezTo>
                    <a:pt x="8488680" y="0"/>
                    <a:pt x="8595360" y="106553"/>
                    <a:pt x="8595360" y="238125"/>
                  </a:cubicBezTo>
                  <a:lnTo>
                    <a:pt x="8595360" y="1190244"/>
                  </a:lnTo>
                  <a:cubicBezTo>
                    <a:pt x="8595360" y="1321689"/>
                    <a:pt x="8488807" y="1428369"/>
                    <a:pt x="8357235" y="1428369"/>
                  </a:cubicBezTo>
                  <a:lnTo>
                    <a:pt x="238125" y="1428369"/>
                  </a:lnTo>
                  <a:cubicBezTo>
                    <a:pt x="106553" y="1428369"/>
                    <a:pt x="0" y="1321816"/>
                    <a:pt x="0" y="119024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D6400">
                    <a:alpha val="100000"/>
                  </a:srgbClr>
                </a:gs>
                <a:gs pos="50000">
                  <a:srgbClr val="A73C00">
                    <a:alpha val="100000"/>
                  </a:srgbClr>
                </a:gs>
                <a:gs pos="100000">
                  <a:srgbClr val="993100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9447" y="2356685"/>
            <a:ext cx="6360976" cy="985733"/>
            <a:chOff x="0" y="0"/>
            <a:chExt cx="8481301" cy="13143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81301" cy="1314310"/>
            </a:xfrm>
            <a:custGeom>
              <a:avLst/>
              <a:gdLst/>
              <a:ahLst/>
              <a:cxnLst/>
              <a:rect r="r" b="b" t="t" l="l"/>
              <a:pathLst>
                <a:path h="1314310" w="8481301">
                  <a:moveTo>
                    <a:pt x="0" y="0"/>
                  </a:moveTo>
                  <a:lnTo>
                    <a:pt x="8481301" y="0"/>
                  </a:lnTo>
                  <a:lnTo>
                    <a:pt x="8481301" y="1314310"/>
                  </a:lnTo>
                  <a:lnTo>
                    <a:pt x="0" y="131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9" id="29"/>
            <p:cNvGrpSpPr/>
            <p:nvPr/>
          </p:nvGrpSpPr>
          <p:grpSpPr>
            <a:xfrm rot="0">
              <a:off x="0" y="0"/>
              <a:ext cx="8481301" cy="1314310"/>
              <a:chOff x="0" y="0"/>
              <a:chExt cx="8481301" cy="131431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481304" cy="1314314"/>
              </a:xfrm>
              <a:custGeom>
                <a:avLst/>
                <a:gdLst/>
                <a:ahLst/>
                <a:cxnLst/>
                <a:rect r="r" b="b" t="t" l="l"/>
                <a:pathLst>
                  <a:path h="1314314" w="8481304">
                    <a:moveTo>
                      <a:pt x="0" y="0"/>
                    </a:moveTo>
                    <a:lnTo>
                      <a:pt x="8481304" y="0"/>
                    </a:lnTo>
                    <a:lnTo>
                      <a:pt x="8481304" y="1314314"/>
                    </a:lnTo>
                    <a:lnTo>
                      <a:pt x="0" y="131431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75737" r="0" b="-75737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38100"/>
                <a:ext cx="8481301" cy="12762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Traditional tools don’t provide real insights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5400000">
            <a:off x="11845404" y="-1765364"/>
            <a:ext cx="876071" cy="11479530"/>
            <a:chOff x="0" y="0"/>
            <a:chExt cx="1168095" cy="15306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1142746" cy="15280639"/>
            </a:xfrm>
            <a:custGeom>
              <a:avLst/>
              <a:gdLst/>
              <a:ahLst/>
              <a:cxnLst/>
              <a:rect r="r" b="b" t="t" l="l"/>
              <a:pathLst>
                <a:path h="15280639" w="1142746">
                  <a:moveTo>
                    <a:pt x="190500" y="0"/>
                  </a:moveTo>
                  <a:lnTo>
                    <a:pt x="952246" y="0"/>
                  </a:lnTo>
                  <a:cubicBezTo>
                    <a:pt x="1057402" y="0"/>
                    <a:pt x="1142746" y="86995"/>
                    <a:pt x="1142746" y="194310"/>
                  </a:cubicBezTo>
                  <a:lnTo>
                    <a:pt x="1142746" y="15280639"/>
                  </a:lnTo>
                  <a:lnTo>
                    <a:pt x="0" y="15280639"/>
                  </a:lnTo>
                  <a:lnTo>
                    <a:pt x="0" y="194310"/>
                  </a:lnTo>
                  <a:cubicBezTo>
                    <a:pt x="0" y="86995"/>
                    <a:pt x="85217" y="0"/>
                    <a:pt x="190500" y="0"/>
                  </a:cubicBezTo>
                  <a:close/>
                </a:path>
              </a:pathLst>
            </a:custGeom>
            <a:solidFill>
              <a:srgbClr val="CDE0D3">
                <a:alpha val="80784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68146" cy="15306039"/>
            </a:xfrm>
            <a:custGeom>
              <a:avLst/>
              <a:gdLst/>
              <a:ahLst/>
              <a:cxnLst/>
              <a:rect r="r" b="b" t="t" l="l"/>
              <a:pathLst>
                <a:path h="15306039" w="1168146">
                  <a:moveTo>
                    <a:pt x="203200" y="0"/>
                  </a:moveTo>
                  <a:lnTo>
                    <a:pt x="964946" y="0"/>
                  </a:lnTo>
                  <a:lnTo>
                    <a:pt x="964946" y="12700"/>
                  </a:lnTo>
                  <a:lnTo>
                    <a:pt x="964946" y="0"/>
                  </a:lnTo>
                  <a:cubicBezTo>
                    <a:pt x="1077341" y="0"/>
                    <a:pt x="1168146" y="92964"/>
                    <a:pt x="1168146" y="207010"/>
                  </a:cubicBezTo>
                  <a:lnTo>
                    <a:pt x="1155446" y="207010"/>
                  </a:lnTo>
                  <a:lnTo>
                    <a:pt x="1168146" y="207010"/>
                  </a:lnTo>
                  <a:lnTo>
                    <a:pt x="1168146" y="15293339"/>
                  </a:lnTo>
                  <a:cubicBezTo>
                    <a:pt x="1168146" y="15300325"/>
                    <a:pt x="1162431" y="15306039"/>
                    <a:pt x="1155446" y="15306039"/>
                  </a:cubicBezTo>
                  <a:lnTo>
                    <a:pt x="12700" y="15306039"/>
                  </a:lnTo>
                  <a:cubicBezTo>
                    <a:pt x="5715" y="15306039"/>
                    <a:pt x="0" y="15300325"/>
                    <a:pt x="0" y="15293339"/>
                  </a:cubicBezTo>
                  <a:lnTo>
                    <a:pt x="0" y="207010"/>
                  </a:lnTo>
                  <a:lnTo>
                    <a:pt x="12700" y="207010"/>
                  </a:lnTo>
                  <a:lnTo>
                    <a:pt x="0" y="207010"/>
                  </a:lnTo>
                  <a:cubicBezTo>
                    <a:pt x="0" y="92964"/>
                    <a:pt x="90678" y="0"/>
                    <a:pt x="203200" y="0"/>
                  </a:cubicBezTo>
                  <a:cubicBezTo>
                    <a:pt x="207137" y="0"/>
                    <a:pt x="210947" y="1905"/>
                    <a:pt x="213360" y="4953"/>
                  </a:cubicBezTo>
                  <a:lnTo>
                    <a:pt x="203200" y="12700"/>
                  </a:lnTo>
                  <a:lnTo>
                    <a:pt x="203200" y="0"/>
                  </a:lnTo>
                  <a:moveTo>
                    <a:pt x="203200" y="25400"/>
                  </a:moveTo>
                  <a:cubicBezTo>
                    <a:pt x="199263" y="25400"/>
                    <a:pt x="195453" y="23495"/>
                    <a:pt x="193040" y="20447"/>
                  </a:cubicBezTo>
                  <a:lnTo>
                    <a:pt x="203200" y="12700"/>
                  </a:lnTo>
                  <a:lnTo>
                    <a:pt x="203200" y="25400"/>
                  </a:lnTo>
                  <a:cubicBezTo>
                    <a:pt x="105283" y="25400"/>
                    <a:pt x="25400" y="106426"/>
                    <a:pt x="25400" y="207010"/>
                  </a:cubicBezTo>
                  <a:lnTo>
                    <a:pt x="25400" y="15293339"/>
                  </a:lnTo>
                  <a:lnTo>
                    <a:pt x="12700" y="15293339"/>
                  </a:lnTo>
                  <a:lnTo>
                    <a:pt x="12700" y="15280639"/>
                  </a:lnTo>
                  <a:lnTo>
                    <a:pt x="1155446" y="15280639"/>
                  </a:lnTo>
                  <a:lnTo>
                    <a:pt x="1155446" y="15293339"/>
                  </a:lnTo>
                  <a:lnTo>
                    <a:pt x="1142746" y="15293339"/>
                  </a:lnTo>
                  <a:lnTo>
                    <a:pt x="1142746" y="207010"/>
                  </a:lnTo>
                  <a:cubicBezTo>
                    <a:pt x="1142746" y="106426"/>
                    <a:pt x="1062863" y="25400"/>
                    <a:pt x="964946" y="25400"/>
                  </a:cubicBezTo>
                  <a:lnTo>
                    <a:pt x="203200" y="25400"/>
                  </a:lnTo>
                  <a:close/>
                </a:path>
              </a:pathLst>
            </a:custGeom>
            <a:solidFill>
              <a:srgbClr val="CDE0D3">
                <a:alpha val="80784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43675" y="3578200"/>
            <a:ext cx="11437696" cy="792394"/>
            <a:chOff x="0" y="0"/>
            <a:chExt cx="15250262" cy="10565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250258" cy="1056532"/>
            </a:xfrm>
            <a:custGeom>
              <a:avLst/>
              <a:gdLst/>
              <a:ahLst/>
              <a:cxnLst/>
              <a:rect r="r" b="b" t="t" l="l"/>
              <a:pathLst>
                <a:path h="1056532" w="15250258">
                  <a:moveTo>
                    <a:pt x="0" y="0"/>
                  </a:moveTo>
                  <a:lnTo>
                    <a:pt x="15250258" y="0"/>
                  </a:lnTo>
                  <a:lnTo>
                    <a:pt x="15250258" y="1056532"/>
                  </a:lnTo>
                  <a:lnTo>
                    <a:pt x="0" y="10565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252" r="0" b="-2312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28575"/>
              <a:ext cx="15250262" cy="1027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Users </a:t>
              </a:r>
              <a:r>
                <a:rPr lang="en-US" b="true" sz="24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hesitate</a:t>
              </a: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to give apps access to bank accounts, limiting automated tracking.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6680" y="3438754"/>
            <a:ext cx="6446520" cy="1071277"/>
            <a:chOff x="0" y="0"/>
            <a:chExt cx="8595360" cy="142836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95360" cy="1428369"/>
            </a:xfrm>
            <a:custGeom>
              <a:avLst/>
              <a:gdLst/>
              <a:ahLst/>
              <a:cxnLst/>
              <a:rect r="r" b="b" t="t" l="l"/>
              <a:pathLst>
                <a:path h="1428369" w="8595360">
                  <a:moveTo>
                    <a:pt x="0" y="238125"/>
                  </a:moveTo>
                  <a:cubicBezTo>
                    <a:pt x="0" y="106553"/>
                    <a:pt x="106553" y="0"/>
                    <a:pt x="238125" y="0"/>
                  </a:cubicBezTo>
                  <a:lnTo>
                    <a:pt x="8357235" y="0"/>
                  </a:lnTo>
                  <a:cubicBezTo>
                    <a:pt x="8488680" y="0"/>
                    <a:pt x="8595360" y="106553"/>
                    <a:pt x="8595360" y="238125"/>
                  </a:cubicBezTo>
                  <a:lnTo>
                    <a:pt x="8595360" y="1190244"/>
                  </a:lnTo>
                  <a:cubicBezTo>
                    <a:pt x="8595360" y="1321689"/>
                    <a:pt x="8488807" y="1428369"/>
                    <a:pt x="8357235" y="1428369"/>
                  </a:cubicBezTo>
                  <a:lnTo>
                    <a:pt x="238125" y="1428369"/>
                  </a:lnTo>
                  <a:cubicBezTo>
                    <a:pt x="106553" y="1428369"/>
                    <a:pt x="0" y="1321816"/>
                    <a:pt x="0" y="119024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6AD11">
                    <a:alpha val="100000"/>
                  </a:srgbClr>
                </a:gs>
                <a:gs pos="50000">
                  <a:srgbClr val="88A800">
                    <a:alpha val="100000"/>
                  </a:srgbClr>
                </a:gs>
                <a:gs pos="100000">
                  <a:srgbClr val="7B9A00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9447" y="3481530"/>
            <a:ext cx="6360976" cy="985733"/>
            <a:chOff x="0" y="0"/>
            <a:chExt cx="8481301" cy="131431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481301" cy="1314310"/>
            </a:xfrm>
            <a:custGeom>
              <a:avLst/>
              <a:gdLst/>
              <a:ahLst/>
              <a:cxnLst/>
              <a:rect r="r" b="b" t="t" l="l"/>
              <a:pathLst>
                <a:path h="1314310" w="8481301">
                  <a:moveTo>
                    <a:pt x="0" y="0"/>
                  </a:moveTo>
                  <a:lnTo>
                    <a:pt x="8481301" y="0"/>
                  </a:lnTo>
                  <a:lnTo>
                    <a:pt x="8481301" y="1314310"/>
                  </a:lnTo>
                  <a:lnTo>
                    <a:pt x="0" y="131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2" id="42"/>
            <p:cNvGrpSpPr/>
            <p:nvPr/>
          </p:nvGrpSpPr>
          <p:grpSpPr>
            <a:xfrm rot="0">
              <a:off x="0" y="0"/>
              <a:ext cx="8481301" cy="1314310"/>
              <a:chOff x="0" y="0"/>
              <a:chExt cx="8481301" cy="131431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481304" cy="1314314"/>
              </a:xfrm>
              <a:custGeom>
                <a:avLst/>
                <a:gdLst/>
                <a:ahLst/>
                <a:cxnLst/>
                <a:rect r="r" b="b" t="t" l="l"/>
                <a:pathLst>
                  <a:path h="1314314" w="8481304">
                    <a:moveTo>
                      <a:pt x="0" y="0"/>
                    </a:moveTo>
                    <a:lnTo>
                      <a:pt x="8481304" y="0"/>
                    </a:lnTo>
                    <a:lnTo>
                      <a:pt x="8481304" y="1314314"/>
                    </a:lnTo>
                    <a:lnTo>
                      <a:pt x="0" y="131431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75737" r="0" b="-75737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38100"/>
                <a:ext cx="8481301" cy="12762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Privacy concerns block the use of bank-synced apps</a:t>
                </a:r>
                <a:r>
                  <a:rPr lang="en-US" sz="3000"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</a:rPr>
                  <a:t>	</a:t>
                </a: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5400000">
            <a:off x="11845404" y="-640528"/>
            <a:ext cx="876071" cy="11479530"/>
            <a:chOff x="0" y="0"/>
            <a:chExt cx="1168095" cy="15306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2700" y="12700"/>
              <a:ext cx="1142746" cy="15280639"/>
            </a:xfrm>
            <a:custGeom>
              <a:avLst/>
              <a:gdLst/>
              <a:ahLst/>
              <a:cxnLst/>
              <a:rect r="r" b="b" t="t" l="l"/>
              <a:pathLst>
                <a:path h="15280639" w="1142746">
                  <a:moveTo>
                    <a:pt x="190500" y="0"/>
                  </a:moveTo>
                  <a:lnTo>
                    <a:pt x="952246" y="0"/>
                  </a:lnTo>
                  <a:cubicBezTo>
                    <a:pt x="1057402" y="0"/>
                    <a:pt x="1142746" y="86995"/>
                    <a:pt x="1142746" y="194310"/>
                  </a:cubicBezTo>
                  <a:lnTo>
                    <a:pt x="1142746" y="15280639"/>
                  </a:lnTo>
                  <a:lnTo>
                    <a:pt x="0" y="15280639"/>
                  </a:lnTo>
                  <a:lnTo>
                    <a:pt x="0" y="194310"/>
                  </a:lnTo>
                  <a:cubicBezTo>
                    <a:pt x="0" y="86995"/>
                    <a:pt x="85217" y="0"/>
                    <a:pt x="190500" y="0"/>
                  </a:cubicBezTo>
                  <a:close/>
                </a:path>
              </a:pathLst>
            </a:custGeom>
            <a:solidFill>
              <a:srgbClr val="CDD0E0">
                <a:alpha val="80784"/>
              </a:srgbClr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68146" cy="15306039"/>
            </a:xfrm>
            <a:custGeom>
              <a:avLst/>
              <a:gdLst/>
              <a:ahLst/>
              <a:cxnLst/>
              <a:rect r="r" b="b" t="t" l="l"/>
              <a:pathLst>
                <a:path h="15306039" w="1168146">
                  <a:moveTo>
                    <a:pt x="203200" y="0"/>
                  </a:moveTo>
                  <a:lnTo>
                    <a:pt x="964946" y="0"/>
                  </a:lnTo>
                  <a:lnTo>
                    <a:pt x="964946" y="12700"/>
                  </a:lnTo>
                  <a:lnTo>
                    <a:pt x="964946" y="0"/>
                  </a:lnTo>
                  <a:cubicBezTo>
                    <a:pt x="1077341" y="0"/>
                    <a:pt x="1168146" y="92964"/>
                    <a:pt x="1168146" y="207010"/>
                  </a:cubicBezTo>
                  <a:lnTo>
                    <a:pt x="1155446" y="207010"/>
                  </a:lnTo>
                  <a:lnTo>
                    <a:pt x="1168146" y="207010"/>
                  </a:lnTo>
                  <a:lnTo>
                    <a:pt x="1168146" y="15293339"/>
                  </a:lnTo>
                  <a:cubicBezTo>
                    <a:pt x="1168146" y="15300325"/>
                    <a:pt x="1162431" y="15306039"/>
                    <a:pt x="1155446" y="15306039"/>
                  </a:cubicBezTo>
                  <a:lnTo>
                    <a:pt x="12700" y="15306039"/>
                  </a:lnTo>
                  <a:cubicBezTo>
                    <a:pt x="5715" y="15306039"/>
                    <a:pt x="0" y="15300325"/>
                    <a:pt x="0" y="15293339"/>
                  </a:cubicBezTo>
                  <a:lnTo>
                    <a:pt x="0" y="207010"/>
                  </a:lnTo>
                  <a:lnTo>
                    <a:pt x="12700" y="207010"/>
                  </a:lnTo>
                  <a:lnTo>
                    <a:pt x="0" y="207010"/>
                  </a:lnTo>
                  <a:cubicBezTo>
                    <a:pt x="0" y="92964"/>
                    <a:pt x="90678" y="0"/>
                    <a:pt x="203200" y="0"/>
                  </a:cubicBezTo>
                  <a:cubicBezTo>
                    <a:pt x="207137" y="0"/>
                    <a:pt x="210947" y="1905"/>
                    <a:pt x="213360" y="4953"/>
                  </a:cubicBezTo>
                  <a:lnTo>
                    <a:pt x="203200" y="12700"/>
                  </a:lnTo>
                  <a:lnTo>
                    <a:pt x="203200" y="0"/>
                  </a:lnTo>
                  <a:moveTo>
                    <a:pt x="203200" y="25400"/>
                  </a:moveTo>
                  <a:cubicBezTo>
                    <a:pt x="199263" y="25400"/>
                    <a:pt x="195453" y="23495"/>
                    <a:pt x="193040" y="20447"/>
                  </a:cubicBezTo>
                  <a:lnTo>
                    <a:pt x="203200" y="12700"/>
                  </a:lnTo>
                  <a:lnTo>
                    <a:pt x="203200" y="25400"/>
                  </a:lnTo>
                  <a:cubicBezTo>
                    <a:pt x="105283" y="25400"/>
                    <a:pt x="25400" y="106426"/>
                    <a:pt x="25400" y="207010"/>
                  </a:cubicBezTo>
                  <a:lnTo>
                    <a:pt x="25400" y="15293339"/>
                  </a:lnTo>
                  <a:lnTo>
                    <a:pt x="12700" y="15293339"/>
                  </a:lnTo>
                  <a:lnTo>
                    <a:pt x="12700" y="15280639"/>
                  </a:lnTo>
                  <a:lnTo>
                    <a:pt x="1155446" y="15280639"/>
                  </a:lnTo>
                  <a:lnTo>
                    <a:pt x="1155446" y="15293339"/>
                  </a:lnTo>
                  <a:lnTo>
                    <a:pt x="1142746" y="15293339"/>
                  </a:lnTo>
                  <a:lnTo>
                    <a:pt x="1142746" y="207010"/>
                  </a:lnTo>
                  <a:cubicBezTo>
                    <a:pt x="1142746" y="106426"/>
                    <a:pt x="1062863" y="25400"/>
                    <a:pt x="964946" y="25400"/>
                  </a:cubicBezTo>
                  <a:lnTo>
                    <a:pt x="203200" y="25400"/>
                  </a:lnTo>
                  <a:close/>
                </a:path>
              </a:pathLst>
            </a:custGeom>
            <a:solidFill>
              <a:srgbClr val="CDD0E0">
                <a:alpha val="80784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543675" y="4703035"/>
            <a:ext cx="11437696" cy="792394"/>
            <a:chOff x="0" y="0"/>
            <a:chExt cx="15250262" cy="105652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250258" cy="1056532"/>
            </a:xfrm>
            <a:custGeom>
              <a:avLst/>
              <a:gdLst/>
              <a:ahLst/>
              <a:cxnLst/>
              <a:rect r="r" b="b" t="t" l="l"/>
              <a:pathLst>
                <a:path h="1056532" w="15250258">
                  <a:moveTo>
                    <a:pt x="0" y="0"/>
                  </a:moveTo>
                  <a:lnTo>
                    <a:pt x="15250258" y="0"/>
                  </a:lnTo>
                  <a:lnTo>
                    <a:pt x="15250258" y="1056532"/>
                  </a:lnTo>
                  <a:lnTo>
                    <a:pt x="0" y="10565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252" r="0" b="-23125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28575"/>
              <a:ext cx="15250262" cy="1027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Couples, roommates, and families find it </a:t>
              </a:r>
              <a:r>
                <a:rPr lang="en-US" b="true" sz="24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difficult to combine expenses</a:t>
              </a: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categorize </a:t>
              </a:r>
              <a:r>
                <a:rPr lang="en-US" b="true" sz="24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needs vs wants, and manage goals</a:t>
              </a: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6680" y="4563599"/>
            <a:ext cx="6446520" cy="1071277"/>
            <a:chOff x="0" y="0"/>
            <a:chExt cx="8595360" cy="142836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595360" cy="1428369"/>
            </a:xfrm>
            <a:custGeom>
              <a:avLst/>
              <a:gdLst/>
              <a:ahLst/>
              <a:cxnLst/>
              <a:rect r="r" b="b" t="t" l="l"/>
              <a:pathLst>
                <a:path h="1428369" w="8595360">
                  <a:moveTo>
                    <a:pt x="0" y="238125"/>
                  </a:moveTo>
                  <a:cubicBezTo>
                    <a:pt x="0" y="106553"/>
                    <a:pt x="106553" y="0"/>
                    <a:pt x="238125" y="0"/>
                  </a:cubicBezTo>
                  <a:lnTo>
                    <a:pt x="8357235" y="0"/>
                  </a:lnTo>
                  <a:cubicBezTo>
                    <a:pt x="8488680" y="0"/>
                    <a:pt x="8595360" y="106553"/>
                    <a:pt x="8595360" y="238125"/>
                  </a:cubicBezTo>
                  <a:lnTo>
                    <a:pt x="8595360" y="1190244"/>
                  </a:lnTo>
                  <a:cubicBezTo>
                    <a:pt x="8595360" y="1321689"/>
                    <a:pt x="8488807" y="1428369"/>
                    <a:pt x="8357235" y="1428369"/>
                  </a:cubicBezTo>
                  <a:lnTo>
                    <a:pt x="238125" y="1428369"/>
                  </a:lnTo>
                  <a:cubicBezTo>
                    <a:pt x="106553" y="1428369"/>
                    <a:pt x="0" y="1321816"/>
                    <a:pt x="0" y="119024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AE72">
                    <a:alpha val="100000"/>
                  </a:srgbClr>
                </a:gs>
                <a:gs pos="50000">
                  <a:srgbClr val="26A94F">
                    <a:alpha val="100000"/>
                  </a:srgbClr>
                </a:gs>
                <a:gs pos="100000">
                  <a:srgbClr val="1C9B43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9447" y="4606376"/>
            <a:ext cx="6360976" cy="985733"/>
            <a:chOff x="0" y="0"/>
            <a:chExt cx="8481301" cy="131431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481301" cy="1314310"/>
            </a:xfrm>
            <a:custGeom>
              <a:avLst/>
              <a:gdLst/>
              <a:ahLst/>
              <a:cxnLst/>
              <a:rect r="r" b="b" t="t" l="l"/>
              <a:pathLst>
                <a:path h="1314310" w="8481301">
                  <a:moveTo>
                    <a:pt x="0" y="0"/>
                  </a:moveTo>
                  <a:lnTo>
                    <a:pt x="8481301" y="0"/>
                  </a:lnTo>
                  <a:lnTo>
                    <a:pt x="8481301" y="1314310"/>
                  </a:lnTo>
                  <a:lnTo>
                    <a:pt x="0" y="131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5" id="55"/>
            <p:cNvGrpSpPr/>
            <p:nvPr/>
          </p:nvGrpSpPr>
          <p:grpSpPr>
            <a:xfrm rot="0">
              <a:off x="0" y="0"/>
              <a:ext cx="8481301" cy="1314310"/>
              <a:chOff x="0" y="0"/>
              <a:chExt cx="8481301" cy="131431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481304" cy="1314314"/>
              </a:xfrm>
              <a:custGeom>
                <a:avLst/>
                <a:gdLst/>
                <a:ahLst/>
                <a:cxnLst/>
                <a:rect r="r" b="b" t="t" l="l"/>
                <a:pathLst>
                  <a:path h="1314314" w="8481304">
                    <a:moveTo>
                      <a:pt x="0" y="0"/>
                    </a:moveTo>
                    <a:lnTo>
                      <a:pt x="8481304" y="0"/>
                    </a:lnTo>
                    <a:lnTo>
                      <a:pt x="8481304" y="1314314"/>
                    </a:lnTo>
                    <a:lnTo>
                      <a:pt x="0" y="131431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75737" r="0" b="-75737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38100"/>
                <a:ext cx="8481301" cy="12762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Household &amp; shared financial tracking is messy</a:t>
                </a:r>
                <a:r>
                  <a:rPr lang="en-US" sz="3000"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</a:rPr>
                  <a:t>	</a:t>
                </a:r>
              </a:p>
            </p:txBody>
          </p:sp>
        </p:grpSp>
      </p:grpSp>
      <p:grpSp>
        <p:nvGrpSpPr>
          <p:cNvPr name="Group 58" id="58"/>
          <p:cNvGrpSpPr/>
          <p:nvPr/>
        </p:nvGrpSpPr>
        <p:grpSpPr>
          <a:xfrm rot="5400000">
            <a:off x="11845404" y="484318"/>
            <a:ext cx="876071" cy="11479530"/>
            <a:chOff x="0" y="0"/>
            <a:chExt cx="1168095" cy="15306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2700" y="12700"/>
              <a:ext cx="1142746" cy="15280639"/>
            </a:xfrm>
            <a:custGeom>
              <a:avLst/>
              <a:gdLst/>
              <a:ahLst/>
              <a:cxnLst/>
              <a:rect r="r" b="b" t="t" l="l"/>
              <a:pathLst>
                <a:path h="15280639" w="1142746">
                  <a:moveTo>
                    <a:pt x="190500" y="0"/>
                  </a:moveTo>
                  <a:lnTo>
                    <a:pt x="952246" y="0"/>
                  </a:lnTo>
                  <a:cubicBezTo>
                    <a:pt x="1057402" y="0"/>
                    <a:pt x="1142746" y="86995"/>
                    <a:pt x="1142746" y="194310"/>
                  </a:cubicBezTo>
                  <a:lnTo>
                    <a:pt x="1142746" y="15280639"/>
                  </a:lnTo>
                  <a:lnTo>
                    <a:pt x="0" y="15280639"/>
                  </a:lnTo>
                  <a:lnTo>
                    <a:pt x="0" y="194310"/>
                  </a:lnTo>
                  <a:cubicBezTo>
                    <a:pt x="0" y="86995"/>
                    <a:pt x="85217" y="0"/>
                    <a:pt x="190500" y="0"/>
                  </a:cubicBezTo>
                  <a:close/>
                </a:path>
              </a:pathLst>
            </a:custGeom>
            <a:solidFill>
              <a:srgbClr val="E0CDD8">
                <a:alpha val="80784"/>
              </a:srgbClr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68146" cy="15306039"/>
            </a:xfrm>
            <a:custGeom>
              <a:avLst/>
              <a:gdLst/>
              <a:ahLst/>
              <a:cxnLst/>
              <a:rect r="r" b="b" t="t" l="l"/>
              <a:pathLst>
                <a:path h="15306039" w="1168146">
                  <a:moveTo>
                    <a:pt x="203200" y="0"/>
                  </a:moveTo>
                  <a:lnTo>
                    <a:pt x="964946" y="0"/>
                  </a:lnTo>
                  <a:lnTo>
                    <a:pt x="964946" y="12700"/>
                  </a:lnTo>
                  <a:lnTo>
                    <a:pt x="964946" y="0"/>
                  </a:lnTo>
                  <a:cubicBezTo>
                    <a:pt x="1077341" y="0"/>
                    <a:pt x="1168146" y="92964"/>
                    <a:pt x="1168146" y="207010"/>
                  </a:cubicBezTo>
                  <a:lnTo>
                    <a:pt x="1155446" y="207010"/>
                  </a:lnTo>
                  <a:lnTo>
                    <a:pt x="1168146" y="207010"/>
                  </a:lnTo>
                  <a:lnTo>
                    <a:pt x="1168146" y="15293339"/>
                  </a:lnTo>
                  <a:cubicBezTo>
                    <a:pt x="1168146" y="15300325"/>
                    <a:pt x="1162431" y="15306039"/>
                    <a:pt x="1155446" y="15306039"/>
                  </a:cubicBezTo>
                  <a:lnTo>
                    <a:pt x="12700" y="15306039"/>
                  </a:lnTo>
                  <a:cubicBezTo>
                    <a:pt x="5715" y="15306039"/>
                    <a:pt x="0" y="15300325"/>
                    <a:pt x="0" y="15293339"/>
                  </a:cubicBezTo>
                  <a:lnTo>
                    <a:pt x="0" y="207010"/>
                  </a:lnTo>
                  <a:lnTo>
                    <a:pt x="12700" y="207010"/>
                  </a:lnTo>
                  <a:lnTo>
                    <a:pt x="0" y="207010"/>
                  </a:lnTo>
                  <a:cubicBezTo>
                    <a:pt x="0" y="92964"/>
                    <a:pt x="90678" y="0"/>
                    <a:pt x="203200" y="0"/>
                  </a:cubicBezTo>
                  <a:cubicBezTo>
                    <a:pt x="207137" y="0"/>
                    <a:pt x="210947" y="1905"/>
                    <a:pt x="213360" y="4953"/>
                  </a:cubicBezTo>
                  <a:lnTo>
                    <a:pt x="203200" y="12700"/>
                  </a:lnTo>
                  <a:lnTo>
                    <a:pt x="203200" y="0"/>
                  </a:lnTo>
                  <a:moveTo>
                    <a:pt x="203200" y="25400"/>
                  </a:moveTo>
                  <a:cubicBezTo>
                    <a:pt x="199263" y="25400"/>
                    <a:pt x="195453" y="23495"/>
                    <a:pt x="193040" y="20447"/>
                  </a:cubicBezTo>
                  <a:lnTo>
                    <a:pt x="203200" y="12700"/>
                  </a:lnTo>
                  <a:lnTo>
                    <a:pt x="203200" y="25400"/>
                  </a:lnTo>
                  <a:cubicBezTo>
                    <a:pt x="105283" y="25400"/>
                    <a:pt x="25400" y="106426"/>
                    <a:pt x="25400" y="207010"/>
                  </a:cubicBezTo>
                  <a:lnTo>
                    <a:pt x="25400" y="15293339"/>
                  </a:lnTo>
                  <a:lnTo>
                    <a:pt x="12700" y="15293339"/>
                  </a:lnTo>
                  <a:lnTo>
                    <a:pt x="12700" y="15280639"/>
                  </a:lnTo>
                  <a:lnTo>
                    <a:pt x="1155446" y="15280639"/>
                  </a:lnTo>
                  <a:lnTo>
                    <a:pt x="1155446" y="15293339"/>
                  </a:lnTo>
                  <a:lnTo>
                    <a:pt x="1142746" y="15293339"/>
                  </a:lnTo>
                  <a:lnTo>
                    <a:pt x="1142746" y="207010"/>
                  </a:lnTo>
                  <a:cubicBezTo>
                    <a:pt x="1142746" y="106426"/>
                    <a:pt x="1062863" y="25400"/>
                    <a:pt x="964946" y="25400"/>
                  </a:cubicBezTo>
                  <a:lnTo>
                    <a:pt x="203200" y="25400"/>
                  </a:lnTo>
                  <a:close/>
                </a:path>
              </a:pathLst>
            </a:custGeom>
            <a:solidFill>
              <a:srgbClr val="E0CDD8">
                <a:alpha val="80784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543675" y="5827881"/>
            <a:ext cx="11437696" cy="792394"/>
            <a:chOff x="0" y="0"/>
            <a:chExt cx="15250262" cy="105652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5250258" cy="1056532"/>
            </a:xfrm>
            <a:custGeom>
              <a:avLst/>
              <a:gdLst/>
              <a:ahLst/>
              <a:cxnLst/>
              <a:rect r="r" b="b" t="t" l="l"/>
              <a:pathLst>
                <a:path h="1056532" w="15250258">
                  <a:moveTo>
                    <a:pt x="0" y="0"/>
                  </a:moveTo>
                  <a:lnTo>
                    <a:pt x="15250258" y="0"/>
                  </a:lnTo>
                  <a:lnTo>
                    <a:pt x="15250258" y="1056532"/>
                  </a:lnTo>
                  <a:lnTo>
                    <a:pt x="0" y="10565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252" r="0" b="-23125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28575"/>
              <a:ext cx="15250262" cy="1027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b="true" sz="24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Small, frequent purchases </a:t>
              </a: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and forgotten subscriptions </a:t>
              </a:r>
              <a:r>
                <a:rPr lang="en-US" b="true" sz="24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quietly drain significant amounts yearly.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6680" y="5688444"/>
            <a:ext cx="6446520" cy="1071277"/>
            <a:chOff x="0" y="0"/>
            <a:chExt cx="8595360" cy="142836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595360" cy="1428369"/>
            </a:xfrm>
            <a:custGeom>
              <a:avLst/>
              <a:gdLst/>
              <a:ahLst/>
              <a:cxnLst/>
              <a:rect r="r" b="b" t="t" l="l"/>
              <a:pathLst>
                <a:path h="1428369" w="8595360">
                  <a:moveTo>
                    <a:pt x="0" y="238125"/>
                  </a:moveTo>
                  <a:cubicBezTo>
                    <a:pt x="0" y="106553"/>
                    <a:pt x="106553" y="0"/>
                    <a:pt x="238125" y="0"/>
                  </a:cubicBezTo>
                  <a:lnTo>
                    <a:pt x="8357235" y="0"/>
                  </a:lnTo>
                  <a:cubicBezTo>
                    <a:pt x="8488680" y="0"/>
                    <a:pt x="8595360" y="106553"/>
                    <a:pt x="8595360" y="238125"/>
                  </a:cubicBezTo>
                  <a:lnTo>
                    <a:pt x="8595360" y="1190244"/>
                  </a:lnTo>
                  <a:cubicBezTo>
                    <a:pt x="8595360" y="1321689"/>
                    <a:pt x="8488807" y="1428369"/>
                    <a:pt x="8357235" y="1428369"/>
                  </a:cubicBezTo>
                  <a:lnTo>
                    <a:pt x="238125" y="1428369"/>
                  </a:lnTo>
                  <a:cubicBezTo>
                    <a:pt x="106553" y="1428369"/>
                    <a:pt x="0" y="1321816"/>
                    <a:pt x="0" y="119024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8BAE">
                    <a:alpha val="100000"/>
                  </a:srgbClr>
                </a:gs>
                <a:gs pos="50000">
                  <a:srgbClr val="2779AA">
                    <a:alpha val="100000"/>
                  </a:srgbClr>
                </a:gs>
                <a:gs pos="100000">
                  <a:srgbClr val="1C6C9C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9447" y="5731212"/>
            <a:ext cx="6360976" cy="985733"/>
            <a:chOff x="0" y="0"/>
            <a:chExt cx="8481301" cy="131431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481301" cy="1314310"/>
            </a:xfrm>
            <a:custGeom>
              <a:avLst/>
              <a:gdLst/>
              <a:ahLst/>
              <a:cxnLst/>
              <a:rect r="r" b="b" t="t" l="l"/>
              <a:pathLst>
                <a:path h="1314310" w="8481301">
                  <a:moveTo>
                    <a:pt x="0" y="0"/>
                  </a:moveTo>
                  <a:lnTo>
                    <a:pt x="8481301" y="0"/>
                  </a:lnTo>
                  <a:lnTo>
                    <a:pt x="8481301" y="1314310"/>
                  </a:lnTo>
                  <a:lnTo>
                    <a:pt x="0" y="131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8" id="68"/>
            <p:cNvGrpSpPr/>
            <p:nvPr/>
          </p:nvGrpSpPr>
          <p:grpSpPr>
            <a:xfrm rot="0">
              <a:off x="0" y="0"/>
              <a:ext cx="8481301" cy="1314310"/>
              <a:chOff x="0" y="0"/>
              <a:chExt cx="8481301" cy="131431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8481304" cy="1314314"/>
              </a:xfrm>
              <a:custGeom>
                <a:avLst/>
                <a:gdLst/>
                <a:ahLst/>
                <a:cxnLst/>
                <a:rect r="r" b="b" t="t" l="l"/>
                <a:pathLst>
                  <a:path h="1314314" w="8481304">
                    <a:moveTo>
                      <a:pt x="0" y="0"/>
                    </a:moveTo>
                    <a:lnTo>
                      <a:pt x="8481304" y="0"/>
                    </a:lnTo>
                    <a:lnTo>
                      <a:pt x="8481304" y="1314314"/>
                    </a:lnTo>
                    <a:lnTo>
                      <a:pt x="0" y="131431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75737" r="0" b="-75737"/>
                </a:stretch>
              </a:blip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38100"/>
                <a:ext cx="8481301" cy="12762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Daily spending leaks go unnoticed</a:t>
                </a:r>
                <a:r>
                  <a:rPr lang="en-US" sz="3000"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</a:rPr>
                  <a:t>	</a:t>
                </a:r>
              </a:p>
            </p:txBody>
          </p:sp>
        </p:grpSp>
      </p:grpSp>
      <p:grpSp>
        <p:nvGrpSpPr>
          <p:cNvPr name="Group 71" id="71"/>
          <p:cNvGrpSpPr/>
          <p:nvPr/>
        </p:nvGrpSpPr>
        <p:grpSpPr>
          <a:xfrm rot="5400000">
            <a:off x="11845404" y="1609154"/>
            <a:ext cx="876071" cy="11479530"/>
            <a:chOff x="0" y="0"/>
            <a:chExt cx="1168095" cy="153060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2700" y="12700"/>
              <a:ext cx="1142746" cy="15280639"/>
            </a:xfrm>
            <a:custGeom>
              <a:avLst/>
              <a:gdLst/>
              <a:ahLst/>
              <a:cxnLst/>
              <a:rect r="r" b="b" t="t" l="l"/>
              <a:pathLst>
                <a:path h="15280639" w="1142746">
                  <a:moveTo>
                    <a:pt x="190500" y="0"/>
                  </a:moveTo>
                  <a:lnTo>
                    <a:pt x="952246" y="0"/>
                  </a:lnTo>
                  <a:cubicBezTo>
                    <a:pt x="1057402" y="0"/>
                    <a:pt x="1142746" y="86995"/>
                    <a:pt x="1142746" y="194310"/>
                  </a:cubicBezTo>
                  <a:lnTo>
                    <a:pt x="1142746" y="15280639"/>
                  </a:lnTo>
                  <a:lnTo>
                    <a:pt x="0" y="15280639"/>
                  </a:lnTo>
                  <a:lnTo>
                    <a:pt x="0" y="194310"/>
                  </a:lnTo>
                  <a:cubicBezTo>
                    <a:pt x="0" y="86995"/>
                    <a:pt x="85217" y="0"/>
                    <a:pt x="190500" y="0"/>
                  </a:cubicBezTo>
                  <a:close/>
                </a:path>
              </a:pathLst>
            </a:custGeom>
            <a:solidFill>
              <a:srgbClr val="E1E0B9">
                <a:alpha val="80784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68146" cy="15306039"/>
            </a:xfrm>
            <a:custGeom>
              <a:avLst/>
              <a:gdLst/>
              <a:ahLst/>
              <a:cxnLst/>
              <a:rect r="r" b="b" t="t" l="l"/>
              <a:pathLst>
                <a:path h="15306039" w="1168146">
                  <a:moveTo>
                    <a:pt x="203200" y="0"/>
                  </a:moveTo>
                  <a:lnTo>
                    <a:pt x="964946" y="0"/>
                  </a:lnTo>
                  <a:lnTo>
                    <a:pt x="964946" y="12700"/>
                  </a:lnTo>
                  <a:lnTo>
                    <a:pt x="964946" y="0"/>
                  </a:lnTo>
                  <a:cubicBezTo>
                    <a:pt x="1077341" y="0"/>
                    <a:pt x="1168146" y="92964"/>
                    <a:pt x="1168146" y="207010"/>
                  </a:cubicBezTo>
                  <a:lnTo>
                    <a:pt x="1155446" y="207010"/>
                  </a:lnTo>
                  <a:lnTo>
                    <a:pt x="1168146" y="207010"/>
                  </a:lnTo>
                  <a:lnTo>
                    <a:pt x="1168146" y="15293339"/>
                  </a:lnTo>
                  <a:cubicBezTo>
                    <a:pt x="1168146" y="15300325"/>
                    <a:pt x="1162431" y="15306039"/>
                    <a:pt x="1155446" y="15306039"/>
                  </a:cubicBezTo>
                  <a:lnTo>
                    <a:pt x="12700" y="15306039"/>
                  </a:lnTo>
                  <a:cubicBezTo>
                    <a:pt x="5715" y="15306039"/>
                    <a:pt x="0" y="15300325"/>
                    <a:pt x="0" y="15293339"/>
                  </a:cubicBezTo>
                  <a:lnTo>
                    <a:pt x="0" y="207010"/>
                  </a:lnTo>
                  <a:lnTo>
                    <a:pt x="12700" y="207010"/>
                  </a:lnTo>
                  <a:lnTo>
                    <a:pt x="0" y="207010"/>
                  </a:lnTo>
                  <a:cubicBezTo>
                    <a:pt x="0" y="92964"/>
                    <a:pt x="90678" y="0"/>
                    <a:pt x="203200" y="0"/>
                  </a:cubicBezTo>
                  <a:cubicBezTo>
                    <a:pt x="207137" y="0"/>
                    <a:pt x="210947" y="1905"/>
                    <a:pt x="213360" y="4953"/>
                  </a:cubicBezTo>
                  <a:lnTo>
                    <a:pt x="203200" y="12700"/>
                  </a:lnTo>
                  <a:lnTo>
                    <a:pt x="203200" y="0"/>
                  </a:lnTo>
                  <a:moveTo>
                    <a:pt x="203200" y="25400"/>
                  </a:moveTo>
                  <a:cubicBezTo>
                    <a:pt x="199263" y="25400"/>
                    <a:pt x="195453" y="23495"/>
                    <a:pt x="193040" y="20447"/>
                  </a:cubicBezTo>
                  <a:lnTo>
                    <a:pt x="203200" y="12700"/>
                  </a:lnTo>
                  <a:lnTo>
                    <a:pt x="203200" y="25400"/>
                  </a:lnTo>
                  <a:cubicBezTo>
                    <a:pt x="105283" y="25400"/>
                    <a:pt x="25400" y="106426"/>
                    <a:pt x="25400" y="207010"/>
                  </a:cubicBezTo>
                  <a:lnTo>
                    <a:pt x="25400" y="15293339"/>
                  </a:lnTo>
                  <a:lnTo>
                    <a:pt x="12700" y="15293339"/>
                  </a:lnTo>
                  <a:lnTo>
                    <a:pt x="12700" y="15280639"/>
                  </a:lnTo>
                  <a:lnTo>
                    <a:pt x="1155446" y="15280639"/>
                  </a:lnTo>
                  <a:lnTo>
                    <a:pt x="1155446" y="15293339"/>
                  </a:lnTo>
                  <a:lnTo>
                    <a:pt x="1142746" y="15293339"/>
                  </a:lnTo>
                  <a:lnTo>
                    <a:pt x="1142746" y="207010"/>
                  </a:lnTo>
                  <a:cubicBezTo>
                    <a:pt x="1142746" y="106426"/>
                    <a:pt x="1062863" y="25400"/>
                    <a:pt x="964946" y="25400"/>
                  </a:cubicBezTo>
                  <a:lnTo>
                    <a:pt x="203200" y="25400"/>
                  </a:lnTo>
                  <a:close/>
                </a:path>
              </a:pathLst>
            </a:custGeom>
            <a:solidFill>
              <a:srgbClr val="E1E0B9">
                <a:alpha val="80784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543675" y="6952726"/>
            <a:ext cx="11437696" cy="792394"/>
            <a:chOff x="0" y="0"/>
            <a:chExt cx="15250262" cy="105652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5250258" cy="1056532"/>
            </a:xfrm>
            <a:custGeom>
              <a:avLst/>
              <a:gdLst/>
              <a:ahLst/>
              <a:cxnLst/>
              <a:rect r="r" b="b" t="t" l="l"/>
              <a:pathLst>
                <a:path h="1056532" w="15250258">
                  <a:moveTo>
                    <a:pt x="0" y="0"/>
                  </a:moveTo>
                  <a:lnTo>
                    <a:pt x="15250258" y="0"/>
                  </a:lnTo>
                  <a:lnTo>
                    <a:pt x="15250258" y="1056532"/>
                  </a:lnTo>
                  <a:lnTo>
                    <a:pt x="0" y="10565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252" r="0" b="-23125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28575"/>
              <a:ext cx="15250262" cy="1027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Without tracking, households </a:t>
              </a:r>
              <a:r>
                <a:rPr lang="en-US" b="true" sz="24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lose clarity on priorities like saving for a home, education, or emergencies.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6680" y="6813280"/>
            <a:ext cx="6446520" cy="1071277"/>
            <a:chOff x="0" y="0"/>
            <a:chExt cx="8595360" cy="142836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595360" cy="1428369"/>
            </a:xfrm>
            <a:custGeom>
              <a:avLst/>
              <a:gdLst/>
              <a:ahLst/>
              <a:cxnLst/>
              <a:rect r="r" b="b" t="t" l="l"/>
              <a:pathLst>
                <a:path h="1428369" w="8595360">
                  <a:moveTo>
                    <a:pt x="0" y="238125"/>
                  </a:moveTo>
                  <a:cubicBezTo>
                    <a:pt x="0" y="106553"/>
                    <a:pt x="106553" y="0"/>
                    <a:pt x="238125" y="0"/>
                  </a:cubicBezTo>
                  <a:lnTo>
                    <a:pt x="8357235" y="0"/>
                  </a:lnTo>
                  <a:cubicBezTo>
                    <a:pt x="8488680" y="0"/>
                    <a:pt x="8595360" y="106553"/>
                    <a:pt x="8595360" y="238125"/>
                  </a:cubicBezTo>
                  <a:lnTo>
                    <a:pt x="8595360" y="1190244"/>
                  </a:lnTo>
                  <a:cubicBezTo>
                    <a:pt x="8595360" y="1321689"/>
                    <a:pt x="8488807" y="1428369"/>
                    <a:pt x="8357235" y="1428369"/>
                  </a:cubicBezTo>
                  <a:lnTo>
                    <a:pt x="238125" y="1428369"/>
                  </a:lnTo>
                  <a:cubicBezTo>
                    <a:pt x="106553" y="1428369"/>
                    <a:pt x="0" y="1321816"/>
                    <a:pt x="0" y="119024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57AE">
                    <a:alpha val="100000"/>
                  </a:srgbClr>
                </a:gs>
                <a:gs pos="50000">
                  <a:srgbClr val="6227AB">
                    <a:alpha val="100000"/>
                  </a:srgbClr>
                </a:gs>
                <a:gs pos="100000">
                  <a:srgbClr val="551C9D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49447" y="6856057"/>
            <a:ext cx="6360976" cy="985733"/>
            <a:chOff x="0" y="0"/>
            <a:chExt cx="8481301" cy="131431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481301" cy="1314310"/>
            </a:xfrm>
            <a:custGeom>
              <a:avLst/>
              <a:gdLst/>
              <a:ahLst/>
              <a:cxnLst/>
              <a:rect r="r" b="b" t="t" l="l"/>
              <a:pathLst>
                <a:path h="1314310" w="8481301">
                  <a:moveTo>
                    <a:pt x="0" y="0"/>
                  </a:moveTo>
                  <a:lnTo>
                    <a:pt x="8481301" y="0"/>
                  </a:lnTo>
                  <a:lnTo>
                    <a:pt x="8481301" y="1314310"/>
                  </a:lnTo>
                  <a:lnTo>
                    <a:pt x="0" y="131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1" id="81"/>
            <p:cNvGrpSpPr/>
            <p:nvPr/>
          </p:nvGrpSpPr>
          <p:grpSpPr>
            <a:xfrm rot="0">
              <a:off x="0" y="0"/>
              <a:ext cx="8481301" cy="1314310"/>
              <a:chOff x="0" y="0"/>
              <a:chExt cx="8481301" cy="131431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8481304" cy="1314314"/>
              </a:xfrm>
              <a:custGeom>
                <a:avLst/>
                <a:gdLst/>
                <a:ahLst/>
                <a:cxnLst/>
                <a:rect r="r" b="b" t="t" l="l"/>
                <a:pathLst>
                  <a:path h="1314314" w="8481304">
                    <a:moveTo>
                      <a:pt x="0" y="0"/>
                    </a:moveTo>
                    <a:lnTo>
                      <a:pt x="8481304" y="0"/>
                    </a:lnTo>
                    <a:lnTo>
                      <a:pt x="8481304" y="1314314"/>
                    </a:lnTo>
                    <a:lnTo>
                      <a:pt x="0" y="131431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75737" r="0" b="-75737"/>
                </a:stretch>
              </a:blip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38100"/>
                <a:ext cx="8481301" cy="12762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Shared financial goals become misaligned</a:t>
                </a:r>
                <a:r>
                  <a:rPr lang="en-US" sz="3000"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</a:rPr>
                  <a:t>	</a:t>
                </a:r>
              </a:p>
            </p:txBody>
          </p:sp>
        </p:grpSp>
      </p:grpSp>
      <p:grpSp>
        <p:nvGrpSpPr>
          <p:cNvPr name="Group 84" id="84"/>
          <p:cNvGrpSpPr/>
          <p:nvPr/>
        </p:nvGrpSpPr>
        <p:grpSpPr>
          <a:xfrm rot="5400000">
            <a:off x="11845404" y="2733999"/>
            <a:ext cx="876071" cy="11479530"/>
            <a:chOff x="0" y="0"/>
            <a:chExt cx="1168095" cy="153060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2700" y="12700"/>
              <a:ext cx="1142746" cy="15280639"/>
            </a:xfrm>
            <a:custGeom>
              <a:avLst/>
              <a:gdLst/>
              <a:ahLst/>
              <a:cxnLst/>
              <a:rect r="r" b="b" t="t" l="l"/>
              <a:pathLst>
                <a:path h="15280639" w="1142746">
                  <a:moveTo>
                    <a:pt x="190500" y="0"/>
                  </a:moveTo>
                  <a:lnTo>
                    <a:pt x="952246" y="0"/>
                  </a:lnTo>
                  <a:cubicBezTo>
                    <a:pt x="1057402" y="0"/>
                    <a:pt x="1142746" y="86995"/>
                    <a:pt x="1142746" y="194310"/>
                  </a:cubicBezTo>
                  <a:lnTo>
                    <a:pt x="1142746" y="15280639"/>
                  </a:lnTo>
                  <a:lnTo>
                    <a:pt x="0" y="15280639"/>
                  </a:lnTo>
                  <a:lnTo>
                    <a:pt x="0" y="194310"/>
                  </a:lnTo>
                  <a:cubicBezTo>
                    <a:pt x="0" y="86995"/>
                    <a:pt x="85217" y="0"/>
                    <a:pt x="190500" y="0"/>
                  </a:cubicBezTo>
                  <a:close/>
                </a:path>
              </a:pathLst>
            </a:custGeom>
            <a:solidFill>
              <a:srgbClr val="CDE1D8">
                <a:alpha val="80784"/>
              </a:srgbClr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68146" cy="15306039"/>
            </a:xfrm>
            <a:custGeom>
              <a:avLst/>
              <a:gdLst/>
              <a:ahLst/>
              <a:cxnLst/>
              <a:rect r="r" b="b" t="t" l="l"/>
              <a:pathLst>
                <a:path h="15306039" w="1168146">
                  <a:moveTo>
                    <a:pt x="203200" y="0"/>
                  </a:moveTo>
                  <a:lnTo>
                    <a:pt x="964946" y="0"/>
                  </a:lnTo>
                  <a:lnTo>
                    <a:pt x="964946" y="12700"/>
                  </a:lnTo>
                  <a:lnTo>
                    <a:pt x="964946" y="0"/>
                  </a:lnTo>
                  <a:cubicBezTo>
                    <a:pt x="1077341" y="0"/>
                    <a:pt x="1168146" y="92964"/>
                    <a:pt x="1168146" y="207010"/>
                  </a:cubicBezTo>
                  <a:lnTo>
                    <a:pt x="1155446" y="207010"/>
                  </a:lnTo>
                  <a:lnTo>
                    <a:pt x="1168146" y="207010"/>
                  </a:lnTo>
                  <a:lnTo>
                    <a:pt x="1168146" y="15293339"/>
                  </a:lnTo>
                  <a:cubicBezTo>
                    <a:pt x="1168146" y="15300325"/>
                    <a:pt x="1162431" y="15306039"/>
                    <a:pt x="1155446" y="15306039"/>
                  </a:cubicBezTo>
                  <a:lnTo>
                    <a:pt x="12700" y="15306039"/>
                  </a:lnTo>
                  <a:cubicBezTo>
                    <a:pt x="5715" y="15306039"/>
                    <a:pt x="0" y="15300325"/>
                    <a:pt x="0" y="15293339"/>
                  </a:cubicBezTo>
                  <a:lnTo>
                    <a:pt x="0" y="207010"/>
                  </a:lnTo>
                  <a:lnTo>
                    <a:pt x="12700" y="207010"/>
                  </a:lnTo>
                  <a:lnTo>
                    <a:pt x="0" y="207010"/>
                  </a:lnTo>
                  <a:cubicBezTo>
                    <a:pt x="0" y="92964"/>
                    <a:pt x="90678" y="0"/>
                    <a:pt x="203200" y="0"/>
                  </a:cubicBezTo>
                  <a:cubicBezTo>
                    <a:pt x="207137" y="0"/>
                    <a:pt x="210947" y="1905"/>
                    <a:pt x="213360" y="4953"/>
                  </a:cubicBezTo>
                  <a:lnTo>
                    <a:pt x="203200" y="12700"/>
                  </a:lnTo>
                  <a:lnTo>
                    <a:pt x="203200" y="0"/>
                  </a:lnTo>
                  <a:moveTo>
                    <a:pt x="203200" y="25400"/>
                  </a:moveTo>
                  <a:cubicBezTo>
                    <a:pt x="199263" y="25400"/>
                    <a:pt x="195453" y="23495"/>
                    <a:pt x="193040" y="20447"/>
                  </a:cubicBezTo>
                  <a:lnTo>
                    <a:pt x="203200" y="12700"/>
                  </a:lnTo>
                  <a:lnTo>
                    <a:pt x="203200" y="25400"/>
                  </a:lnTo>
                  <a:cubicBezTo>
                    <a:pt x="105283" y="25400"/>
                    <a:pt x="25400" y="106426"/>
                    <a:pt x="25400" y="207010"/>
                  </a:cubicBezTo>
                  <a:lnTo>
                    <a:pt x="25400" y="15293339"/>
                  </a:lnTo>
                  <a:lnTo>
                    <a:pt x="12700" y="15293339"/>
                  </a:lnTo>
                  <a:lnTo>
                    <a:pt x="12700" y="15280639"/>
                  </a:lnTo>
                  <a:lnTo>
                    <a:pt x="1155446" y="15280639"/>
                  </a:lnTo>
                  <a:lnTo>
                    <a:pt x="1155446" y="15293339"/>
                  </a:lnTo>
                  <a:lnTo>
                    <a:pt x="1142746" y="15293339"/>
                  </a:lnTo>
                  <a:lnTo>
                    <a:pt x="1142746" y="207010"/>
                  </a:lnTo>
                  <a:cubicBezTo>
                    <a:pt x="1142746" y="106426"/>
                    <a:pt x="1062863" y="25400"/>
                    <a:pt x="964946" y="25400"/>
                  </a:cubicBezTo>
                  <a:lnTo>
                    <a:pt x="203200" y="25400"/>
                  </a:lnTo>
                  <a:close/>
                </a:path>
              </a:pathLst>
            </a:custGeom>
            <a:solidFill>
              <a:srgbClr val="CDE1D8">
                <a:alpha val="80784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543675" y="8077562"/>
            <a:ext cx="11437696" cy="792394"/>
            <a:chOff x="0" y="0"/>
            <a:chExt cx="15250262" cy="105652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5250258" cy="1056532"/>
            </a:xfrm>
            <a:custGeom>
              <a:avLst/>
              <a:gdLst/>
              <a:ahLst/>
              <a:cxnLst/>
              <a:rect r="r" b="b" t="t" l="l"/>
              <a:pathLst>
                <a:path h="1056532" w="15250258">
                  <a:moveTo>
                    <a:pt x="0" y="0"/>
                  </a:moveTo>
                  <a:lnTo>
                    <a:pt x="15250258" y="0"/>
                  </a:lnTo>
                  <a:lnTo>
                    <a:pt x="15250258" y="1056532"/>
                  </a:lnTo>
                  <a:lnTo>
                    <a:pt x="0" y="10565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252" r="0" b="-23125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28575"/>
              <a:ext cx="15250262" cy="1027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b="true" sz="24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Not knowing how much you can afford results</a:t>
              </a: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in </a:t>
              </a:r>
              <a:r>
                <a:rPr lang="en-US" b="true" sz="24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relying on credit cards </a:t>
              </a: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and accumulating </a:t>
              </a:r>
              <a:r>
                <a:rPr lang="en-US" b="true" sz="24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high-interest debt</a:t>
              </a: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6680" y="7938125"/>
            <a:ext cx="6446520" cy="1071277"/>
            <a:chOff x="0" y="0"/>
            <a:chExt cx="8595360" cy="142836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595360" cy="1428369"/>
            </a:xfrm>
            <a:custGeom>
              <a:avLst/>
              <a:gdLst/>
              <a:ahLst/>
              <a:cxnLst/>
              <a:rect r="r" b="b" t="t" l="l"/>
              <a:pathLst>
                <a:path h="1428369" w="8595360">
                  <a:moveTo>
                    <a:pt x="0" y="238125"/>
                  </a:moveTo>
                  <a:cubicBezTo>
                    <a:pt x="0" y="106553"/>
                    <a:pt x="106553" y="0"/>
                    <a:pt x="238125" y="0"/>
                  </a:cubicBezTo>
                  <a:lnTo>
                    <a:pt x="8357235" y="0"/>
                  </a:lnTo>
                  <a:cubicBezTo>
                    <a:pt x="8488680" y="0"/>
                    <a:pt x="8595360" y="106553"/>
                    <a:pt x="8595360" y="238125"/>
                  </a:cubicBezTo>
                  <a:lnTo>
                    <a:pt x="8595360" y="1190244"/>
                  </a:lnTo>
                  <a:cubicBezTo>
                    <a:pt x="8595360" y="1321689"/>
                    <a:pt x="8488807" y="1428369"/>
                    <a:pt x="8357235" y="1428369"/>
                  </a:cubicBezTo>
                  <a:lnTo>
                    <a:pt x="238125" y="1428369"/>
                  </a:lnTo>
                  <a:cubicBezTo>
                    <a:pt x="106553" y="1428369"/>
                    <a:pt x="0" y="1321816"/>
                    <a:pt x="0" y="119024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F5881">
                    <a:alpha val="100000"/>
                  </a:srgbClr>
                </a:gs>
                <a:gs pos="50000">
                  <a:srgbClr val="AC2769">
                    <a:alpha val="100000"/>
                  </a:srgbClr>
                </a:gs>
                <a:gs pos="100000">
                  <a:srgbClr val="9F1D5C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49447" y="7980893"/>
            <a:ext cx="6360976" cy="985733"/>
            <a:chOff x="0" y="0"/>
            <a:chExt cx="8481301" cy="131431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481301" cy="1314310"/>
            </a:xfrm>
            <a:custGeom>
              <a:avLst/>
              <a:gdLst/>
              <a:ahLst/>
              <a:cxnLst/>
              <a:rect r="r" b="b" t="t" l="l"/>
              <a:pathLst>
                <a:path h="1314310" w="8481301">
                  <a:moveTo>
                    <a:pt x="0" y="0"/>
                  </a:moveTo>
                  <a:lnTo>
                    <a:pt x="8481301" y="0"/>
                  </a:lnTo>
                  <a:lnTo>
                    <a:pt x="8481301" y="1314310"/>
                  </a:lnTo>
                  <a:lnTo>
                    <a:pt x="0" y="131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4" id="94"/>
            <p:cNvGrpSpPr/>
            <p:nvPr/>
          </p:nvGrpSpPr>
          <p:grpSpPr>
            <a:xfrm rot="0">
              <a:off x="0" y="0"/>
              <a:ext cx="8481301" cy="1314310"/>
              <a:chOff x="0" y="0"/>
              <a:chExt cx="8481301" cy="1314310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8481304" cy="1314314"/>
              </a:xfrm>
              <a:custGeom>
                <a:avLst/>
                <a:gdLst/>
                <a:ahLst/>
                <a:cxnLst/>
                <a:rect r="r" b="b" t="t" l="l"/>
                <a:pathLst>
                  <a:path h="1314314" w="8481304">
                    <a:moveTo>
                      <a:pt x="0" y="0"/>
                    </a:moveTo>
                    <a:lnTo>
                      <a:pt x="8481304" y="0"/>
                    </a:lnTo>
                    <a:lnTo>
                      <a:pt x="8481304" y="1314314"/>
                    </a:lnTo>
                    <a:lnTo>
                      <a:pt x="0" y="131431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75737" r="0" b="-75737"/>
                </a:stretch>
              </a:blip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38100"/>
                <a:ext cx="8481301" cy="12762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Untracked spending leads to debt spirals</a:t>
                </a:r>
              </a:p>
            </p:txBody>
          </p:sp>
        </p:grpSp>
      </p:grpSp>
      <p:grpSp>
        <p:nvGrpSpPr>
          <p:cNvPr name="Group 97" id="97"/>
          <p:cNvGrpSpPr/>
          <p:nvPr/>
        </p:nvGrpSpPr>
        <p:grpSpPr>
          <a:xfrm rot="5400000">
            <a:off x="11845404" y="3858844"/>
            <a:ext cx="876071" cy="11479530"/>
            <a:chOff x="0" y="0"/>
            <a:chExt cx="1168095" cy="15306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2700" y="12700"/>
              <a:ext cx="1142746" cy="15280639"/>
            </a:xfrm>
            <a:custGeom>
              <a:avLst/>
              <a:gdLst/>
              <a:ahLst/>
              <a:cxnLst/>
              <a:rect r="r" b="b" t="t" l="l"/>
              <a:pathLst>
                <a:path h="15280639" w="1142746">
                  <a:moveTo>
                    <a:pt x="190500" y="0"/>
                  </a:moveTo>
                  <a:lnTo>
                    <a:pt x="952246" y="0"/>
                  </a:lnTo>
                  <a:cubicBezTo>
                    <a:pt x="1057402" y="0"/>
                    <a:pt x="1142746" y="86995"/>
                    <a:pt x="1142746" y="194310"/>
                  </a:cubicBezTo>
                  <a:lnTo>
                    <a:pt x="1142746" y="15280639"/>
                  </a:lnTo>
                  <a:lnTo>
                    <a:pt x="0" y="15280639"/>
                  </a:lnTo>
                  <a:lnTo>
                    <a:pt x="0" y="194310"/>
                  </a:lnTo>
                  <a:cubicBezTo>
                    <a:pt x="0" y="86995"/>
                    <a:pt x="85217" y="0"/>
                    <a:pt x="190500" y="0"/>
                  </a:cubicBezTo>
                  <a:close/>
                </a:path>
              </a:pathLst>
            </a:custGeom>
            <a:solidFill>
              <a:srgbClr val="CFCDE1">
                <a:alpha val="80784"/>
              </a:srgbClr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68146" cy="15306039"/>
            </a:xfrm>
            <a:custGeom>
              <a:avLst/>
              <a:gdLst/>
              <a:ahLst/>
              <a:cxnLst/>
              <a:rect r="r" b="b" t="t" l="l"/>
              <a:pathLst>
                <a:path h="15306039" w="1168146">
                  <a:moveTo>
                    <a:pt x="203200" y="0"/>
                  </a:moveTo>
                  <a:lnTo>
                    <a:pt x="964946" y="0"/>
                  </a:lnTo>
                  <a:lnTo>
                    <a:pt x="964946" y="12700"/>
                  </a:lnTo>
                  <a:lnTo>
                    <a:pt x="964946" y="0"/>
                  </a:lnTo>
                  <a:cubicBezTo>
                    <a:pt x="1077341" y="0"/>
                    <a:pt x="1168146" y="92964"/>
                    <a:pt x="1168146" y="207010"/>
                  </a:cubicBezTo>
                  <a:lnTo>
                    <a:pt x="1155446" y="207010"/>
                  </a:lnTo>
                  <a:lnTo>
                    <a:pt x="1168146" y="207010"/>
                  </a:lnTo>
                  <a:lnTo>
                    <a:pt x="1168146" y="15293339"/>
                  </a:lnTo>
                  <a:cubicBezTo>
                    <a:pt x="1168146" y="15300325"/>
                    <a:pt x="1162431" y="15306039"/>
                    <a:pt x="1155446" y="15306039"/>
                  </a:cubicBezTo>
                  <a:lnTo>
                    <a:pt x="12700" y="15306039"/>
                  </a:lnTo>
                  <a:cubicBezTo>
                    <a:pt x="5715" y="15306039"/>
                    <a:pt x="0" y="15300325"/>
                    <a:pt x="0" y="15293339"/>
                  </a:cubicBezTo>
                  <a:lnTo>
                    <a:pt x="0" y="207010"/>
                  </a:lnTo>
                  <a:lnTo>
                    <a:pt x="12700" y="207010"/>
                  </a:lnTo>
                  <a:lnTo>
                    <a:pt x="0" y="207010"/>
                  </a:lnTo>
                  <a:cubicBezTo>
                    <a:pt x="0" y="92964"/>
                    <a:pt x="90678" y="0"/>
                    <a:pt x="203200" y="0"/>
                  </a:cubicBezTo>
                  <a:cubicBezTo>
                    <a:pt x="207137" y="0"/>
                    <a:pt x="210947" y="1905"/>
                    <a:pt x="213360" y="4953"/>
                  </a:cubicBezTo>
                  <a:lnTo>
                    <a:pt x="203200" y="12700"/>
                  </a:lnTo>
                  <a:lnTo>
                    <a:pt x="203200" y="0"/>
                  </a:lnTo>
                  <a:moveTo>
                    <a:pt x="203200" y="25400"/>
                  </a:moveTo>
                  <a:cubicBezTo>
                    <a:pt x="199263" y="25400"/>
                    <a:pt x="195453" y="23495"/>
                    <a:pt x="193040" y="20447"/>
                  </a:cubicBezTo>
                  <a:lnTo>
                    <a:pt x="203200" y="12700"/>
                  </a:lnTo>
                  <a:lnTo>
                    <a:pt x="203200" y="25400"/>
                  </a:lnTo>
                  <a:cubicBezTo>
                    <a:pt x="105283" y="25400"/>
                    <a:pt x="25400" y="106426"/>
                    <a:pt x="25400" y="207010"/>
                  </a:cubicBezTo>
                  <a:lnTo>
                    <a:pt x="25400" y="15293339"/>
                  </a:lnTo>
                  <a:lnTo>
                    <a:pt x="12700" y="15293339"/>
                  </a:lnTo>
                  <a:lnTo>
                    <a:pt x="12700" y="15280639"/>
                  </a:lnTo>
                  <a:lnTo>
                    <a:pt x="1155446" y="15280639"/>
                  </a:lnTo>
                  <a:lnTo>
                    <a:pt x="1155446" y="15293339"/>
                  </a:lnTo>
                  <a:lnTo>
                    <a:pt x="1142746" y="15293339"/>
                  </a:lnTo>
                  <a:lnTo>
                    <a:pt x="1142746" y="207010"/>
                  </a:lnTo>
                  <a:cubicBezTo>
                    <a:pt x="1142746" y="106426"/>
                    <a:pt x="1062863" y="25400"/>
                    <a:pt x="964946" y="25400"/>
                  </a:cubicBezTo>
                  <a:lnTo>
                    <a:pt x="203200" y="25400"/>
                  </a:lnTo>
                  <a:close/>
                </a:path>
              </a:pathLst>
            </a:custGeom>
            <a:solidFill>
              <a:srgbClr val="CFCDE1">
                <a:alpha val="80784"/>
              </a:srgbClr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6543675" y="9202407"/>
            <a:ext cx="11437696" cy="792394"/>
            <a:chOff x="0" y="0"/>
            <a:chExt cx="15250262" cy="105652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5250258" cy="1056532"/>
            </a:xfrm>
            <a:custGeom>
              <a:avLst/>
              <a:gdLst/>
              <a:ahLst/>
              <a:cxnLst/>
              <a:rect r="r" b="b" t="t" l="l"/>
              <a:pathLst>
                <a:path h="1056532" w="15250258">
                  <a:moveTo>
                    <a:pt x="0" y="0"/>
                  </a:moveTo>
                  <a:lnTo>
                    <a:pt x="15250258" y="0"/>
                  </a:lnTo>
                  <a:lnTo>
                    <a:pt x="15250258" y="1056532"/>
                  </a:lnTo>
                  <a:lnTo>
                    <a:pt x="0" y="10565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252" r="0" b="-23125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28575"/>
              <a:ext cx="15250262" cy="1027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The anxiety of “</a:t>
              </a:r>
              <a:r>
                <a:rPr lang="en-US" b="true" sz="24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where did my paycheck go</a:t>
              </a: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?” replaces control and confidence in financial planning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6680" y="9062971"/>
            <a:ext cx="6446520" cy="1071277"/>
            <a:chOff x="0" y="0"/>
            <a:chExt cx="8595360" cy="142836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595360" cy="1428369"/>
            </a:xfrm>
            <a:custGeom>
              <a:avLst/>
              <a:gdLst/>
              <a:ahLst/>
              <a:cxnLst/>
              <a:rect r="r" b="b" t="t" l="l"/>
              <a:pathLst>
                <a:path h="1428369" w="8595360">
                  <a:moveTo>
                    <a:pt x="0" y="238125"/>
                  </a:moveTo>
                  <a:cubicBezTo>
                    <a:pt x="0" y="106553"/>
                    <a:pt x="106553" y="0"/>
                    <a:pt x="238125" y="0"/>
                  </a:cubicBezTo>
                  <a:lnTo>
                    <a:pt x="8357235" y="0"/>
                  </a:lnTo>
                  <a:cubicBezTo>
                    <a:pt x="8488680" y="0"/>
                    <a:pt x="8595360" y="106553"/>
                    <a:pt x="8595360" y="238125"/>
                  </a:cubicBezTo>
                  <a:lnTo>
                    <a:pt x="8595360" y="1190244"/>
                  </a:lnTo>
                  <a:cubicBezTo>
                    <a:pt x="8595360" y="1321689"/>
                    <a:pt x="8488807" y="1428369"/>
                    <a:pt x="8357235" y="1428369"/>
                  </a:cubicBezTo>
                  <a:lnTo>
                    <a:pt x="238125" y="1428369"/>
                  </a:lnTo>
                  <a:cubicBezTo>
                    <a:pt x="106553" y="1428369"/>
                    <a:pt x="0" y="1321816"/>
                    <a:pt x="0" y="119024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F8C00">
                    <a:alpha val="100000"/>
                  </a:srgbClr>
                </a:gs>
                <a:gs pos="50000">
                  <a:srgbClr val="AD7500">
                    <a:alpha val="100000"/>
                  </a:srgbClr>
                </a:gs>
                <a:gs pos="100000">
                  <a:srgbClr val="A06800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49447" y="9105738"/>
            <a:ext cx="6360976" cy="985733"/>
            <a:chOff x="0" y="0"/>
            <a:chExt cx="8481301" cy="131431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481301" cy="1314310"/>
            </a:xfrm>
            <a:custGeom>
              <a:avLst/>
              <a:gdLst/>
              <a:ahLst/>
              <a:cxnLst/>
              <a:rect r="r" b="b" t="t" l="l"/>
              <a:pathLst>
                <a:path h="1314310" w="8481301">
                  <a:moveTo>
                    <a:pt x="0" y="0"/>
                  </a:moveTo>
                  <a:lnTo>
                    <a:pt x="8481301" y="0"/>
                  </a:lnTo>
                  <a:lnTo>
                    <a:pt x="8481301" y="1314310"/>
                  </a:lnTo>
                  <a:lnTo>
                    <a:pt x="0" y="131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7" id="107"/>
            <p:cNvGrpSpPr/>
            <p:nvPr/>
          </p:nvGrpSpPr>
          <p:grpSpPr>
            <a:xfrm rot="0">
              <a:off x="0" y="0"/>
              <a:ext cx="8481301" cy="1314310"/>
              <a:chOff x="0" y="0"/>
              <a:chExt cx="8481301" cy="1314310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8481304" cy="1314314"/>
              </a:xfrm>
              <a:custGeom>
                <a:avLst/>
                <a:gdLst/>
                <a:ahLst/>
                <a:cxnLst/>
                <a:rect r="r" b="b" t="t" l="l"/>
                <a:pathLst>
                  <a:path h="1314314" w="8481304">
                    <a:moveTo>
                      <a:pt x="0" y="0"/>
                    </a:moveTo>
                    <a:lnTo>
                      <a:pt x="8481304" y="0"/>
                    </a:lnTo>
                    <a:lnTo>
                      <a:pt x="8481304" y="1314314"/>
                    </a:lnTo>
                    <a:lnTo>
                      <a:pt x="0" y="131431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75737" r="0" b="-75737"/>
                </a:stretch>
              </a:blipFill>
            </p:spPr>
          </p:sp>
          <p:sp>
            <p:nvSpPr>
              <p:cNvPr name="TextBox 109" id="109"/>
              <p:cNvSpPr txBox="true"/>
              <p:nvPr/>
            </p:nvSpPr>
            <p:spPr>
              <a:xfrm>
                <a:off x="0" y="38100"/>
                <a:ext cx="8481301" cy="12762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Lack of visibility creates financial stress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" y="19"/>
            <a:ext cx="18287971" cy="10286981"/>
            <a:chOff x="0" y="0"/>
            <a:chExt cx="24383962" cy="13715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337" r="0" b="-3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23900" y="0"/>
            <a:ext cx="15773400" cy="1988344"/>
            <a:chOff x="0" y="0"/>
            <a:chExt cx="21031200" cy="2651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Solution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11606936" y="-3508362"/>
            <a:ext cx="1126226" cy="11167186"/>
            <a:chOff x="0" y="0"/>
            <a:chExt cx="1501635" cy="148895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1463548" cy="14851507"/>
            </a:xfrm>
            <a:custGeom>
              <a:avLst/>
              <a:gdLst/>
              <a:ahLst/>
              <a:cxnLst/>
              <a:rect r="r" b="b" t="t" l="l"/>
              <a:pathLst>
                <a:path h="14851507" w="1463548">
                  <a:moveTo>
                    <a:pt x="243967" y="0"/>
                  </a:moveTo>
                  <a:lnTo>
                    <a:pt x="1219581" y="0"/>
                  </a:lnTo>
                  <a:cubicBezTo>
                    <a:pt x="1354328" y="0"/>
                    <a:pt x="1463548" y="111760"/>
                    <a:pt x="1463548" y="249682"/>
                  </a:cubicBezTo>
                  <a:lnTo>
                    <a:pt x="1463548" y="14851507"/>
                  </a:lnTo>
                  <a:lnTo>
                    <a:pt x="0" y="14851507"/>
                  </a:lnTo>
                  <a:lnTo>
                    <a:pt x="0" y="249682"/>
                  </a:lnTo>
                  <a:cubicBezTo>
                    <a:pt x="0" y="111760"/>
                    <a:pt x="109220" y="0"/>
                    <a:pt x="243967" y="0"/>
                  </a:cubicBez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01648" cy="14889607"/>
            </a:xfrm>
            <a:custGeom>
              <a:avLst/>
              <a:gdLst/>
              <a:ahLst/>
              <a:cxnLst/>
              <a:rect r="r" b="b" t="t" l="l"/>
              <a:pathLst>
                <a:path h="14889607" w="1501648">
                  <a:moveTo>
                    <a:pt x="263017" y="0"/>
                  </a:moveTo>
                  <a:lnTo>
                    <a:pt x="1238631" y="0"/>
                  </a:lnTo>
                  <a:lnTo>
                    <a:pt x="1238631" y="19050"/>
                  </a:lnTo>
                  <a:lnTo>
                    <a:pt x="1238631" y="0"/>
                  </a:lnTo>
                  <a:cubicBezTo>
                    <a:pt x="1384300" y="0"/>
                    <a:pt x="1501648" y="120650"/>
                    <a:pt x="1501648" y="268732"/>
                  </a:cubicBezTo>
                  <a:lnTo>
                    <a:pt x="1482598" y="268732"/>
                  </a:lnTo>
                  <a:lnTo>
                    <a:pt x="1501648" y="268732"/>
                  </a:lnTo>
                  <a:lnTo>
                    <a:pt x="1501648" y="14870557"/>
                  </a:lnTo>
                  <a:cubicBezTo>
                    <a:pt x="1501648" y="14881098"/>
                    <a:pt x="1493139" y="14889607"/>
                    <a:pt x="1482598" y="14889607"/>
                  </a:cubicBezTo>
                  <a:lnTo>
                    <a:pt x="19050" y="14889607"/>
                  </a:lnTo>
                  <a:cubicBezTo>
                    <a:pt x="8509" y="14889607"/>
                    <a:pt x="0" y="14881098"/>
                    <a:pt x="0" y="14870557"/>
                  </a:cubicBezTo>
                  <a:lnTo>
                    <a:pt x="0" y="268732"/>
                  </a:lnTo>
                  <a:lnTo>
                    <a:pt x="19050" y="268732"/>
                  </a:lnTo>
                  <a:lnTo>
                    <a:pt x="0" y="268732"/>
                  </a:lnTo>
                  <a:cubicBezTo>
                    <a:pt x="0" y="120650"/>
                    <a:pt x="117348" y="0"/>
                    <a:pt x="263017" y="0"/>
                  </a:cubicBezTo>
                  <a:cubicBezTo>
                    <a:pt x="266573" y="0"/>
                    <a:pt x="270129" y="1016"/>
                    <a:pt x="273050" y="2921"/>
                  </a:cubicBezTo>
                  <a:lnTo>
                    <a:pt x="263017" y="19050"/>
                  </a:lnTo>
                  <a:lnTo>
                    <a:pt x="263017" y="0"/>
                  </a:lnTo>
                  <a:moveTo>
                    <a:pt x="263017" y="38100"/>
                  </a:moveTo>
                  <a:cubicBezTo>
                    <a:pt x="259461" y="38100"/>
                    <a:pt x="255905" y="37084"/>
                    <a:pt x="252984" y="35179"/>
                  </a:cubicBezTo>
                  <a:lnTo>
                    <a:pt x="263017" y="19050"/>
                  </a:lnTo>
                  <a:lnTo>
                    <a:pt x="263017" y="38100"/>
                  </a:lnTo>
                  <a:cubicBezTo>
                    <a:pt x="139192" y="38100"/>
                    <a:pt x="38100" y="140970"/>
                    <a:pt x="38100" y="268732"/>
                  </a:cubicBezTo>
                  <a:lnTo>
                    <a:pt x="38100" y="14870557"/>
                  </a:lnTo>
                  <a:lnTo>
                    <a:pt x="19050" y="14870557"/>
                  </a:lnTo>
                  <a:lnTo>
                    <a:pt x="19050" y="14851507"/>
                  </a:lnTo>
                  <a:lnTo>
                    <a:pt x="1482598" y="14851507"/>
                  </a:lnTo>
                  <a:lnTo>
                    <a:pt x="1482598" y="14870557"/>
                  </a:lnTo>
                  <a:lnTo>
                    <a:pt x="1463548" y="14870557"/>
                  </a:lnTo>
                  <a:lnTo>
                    <a:pt x="1463548" y="268732"/>
                  </a:lnTo>
                  <a:cubicBezTo>
                    <a:pt x="1463548" y="140970"/>
                    <a:pt x="1362456" y="38100"/>
                    <a:pt x="1238631" y="38100"/>
                  </a:cubicBezTo>
                  <a:lnTo>
                    <a:pt x="263017" y="3810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586461" y="1565700"/>
            <a:ext cx="11113599" cy="1019061"/>
            <a:chOff x="0" y="0"/>
            <a:chExt cx="14818131" cy="13587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818136" cy="1358748"/>
            </a:xfrm>
            <a:custGeom>
              <a:avLst/>
              <a:gdLst/>
              <a:ahLst/>
              <a:cxnLst/>
              <a:rect r="r" b="b" t="t" l="l"/>
              <a:pathLst>
                <a:path h="1358748" w="14818136">
                  <a:moveTo>
                    <a:pt x="0" y="0"/>
                  </a:moveTo>
                  <a:lnTo>
                    <a:pt x="14818136" y="0"/>
                  </a:lnTo>
                  <a:lnTo>
                    <a:pt x="14818136" y="1358748"/>
                  </a:lnTo>
                  <a:lnTo>
                    <a:pt x="0" y="13587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498" r="0" b="-16249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4818131" cy="1339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17634" lvl="2">
                <a:lnSpc>
                  <a:spcPts val="2106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Streaks, global rankings, and XP 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gained from adding expenses, weekly reviews, or chatting with the advisor.</a:t>
              </a:r>
            </a:p>
            <a:p>
              <a:pPr algn="l" marL="352901" indent="-117634" lvl="2">
                <a:lnSpc>
                  <a:spcPts val="2106"/>
                </a:lnSpc>
                <a:buFont typeface="Arial"/>
                <a:buChar char="⚬"/>
              </a:pP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Weekly and monthly savings challenges 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to keep users engaged and consistent.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0992" y="1374905"/>
            <a:ext cx="6294044" cy="1400642"/>
            <a:chOff x="0" y="0"/>
            <a:chExt cx="8392058" cy="18675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9050" y="19050"/>
              <a:ext cx="8354060" cy="1829435"/>
            </a:xfrm>
            <a:custGeom>
              <a:avLst/>
              <a:gdLst/>
              <a:ahLst/>
              <a:cxnLst/>
              <a:rect r="r" b="b" t="t" l="l"/>
              <a:pathLst>
                <a:path h="1829435" w="8354060">
                  <a:moveTo>
                    <a:pt x="0" y="304927"/>
                  </a:moveTo>
                  <a:cubicBezTo>
                    <a:pt x="0" y="136525"/>
                    <a:pt x="138684" y="0"/>
                    <a:pt x="309880" y="0"/>
                  </a:cubicBezTo>
                  <a:lnTo>
                    <a:pt x="8044180" y="0"/>
                  </a:lnTo>
                  <a:cubicBezTo>
                    <a:pt x="8215249" y="0"/>
                    <a:pt x="8354060" y="136525"/>
                    <a:pt x="8354060" y="304927"/>
                  </a:cubicBezTo>
                  <a:lnTo>
                    <a:pt x="8354060" y="1524508"/>
                  </a:lnTo>
                  <a:cubicBezTo>
                    <a:pt x="8354060" y="1692910"/>
                    <a:pt x="8215376" y="1829435"/>
                    <a:pt x="8044180" y="1829435"/>
                  </a:cubicBezTo>
                  <a:lnTo>
                    <a:pt x="309880" y="1829435"/>
                  </a:lnTo>
                  <a:cubicBezTo>
                    <a:pt x="138811" y="1829435"/>
                    <a:pt x="0" y="1692910"/>
                    <a:pt x="0" y="1524508"/>
                  </a:cubicBez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92160" cy="1867535"/>
            </a:xfrm>
            <a:custGeom>
              <a:avLst/>
              <a:gdLst/>
              <a:ahLst/>
              <a:cxnLst/>
              <a:rect r="r" b="b" t="t" l="l"/>
              <a:pathLst>
                <a:path h="1867535" w="8392160">
                  <a:moveTo>
                    <a:pt x="0" y="323977"/>
                  </a:moveTo>
                  <a:cubicBezTo>
                    <a:pt x="0" y="144780"/>
                    <a:pt x="147574" y="0"/>
                    <a:pt x="328930" y="0"/>
                  </a:cubicBezTo>
                  <a:lnTo>
                    <a:pt x="8063230" y="0"/>
                  </a:lnTo>
                  <a:lnTo>
                    <a:pt x="8063230" y="19050"/>
                  </a:lnTo>
                  <a:lnTo>
                    <a:pt x="8063230" y="0"/>
                  </a:lnTo>
                  <a:cubicBezTo>
                    <a:pt x="8244586" y="0"/>
                    <a:pt x="8392160" y="144780"/>
                    <a:pt x="8392160" y="323977"/>
                  </a:cubicBezTo>
                  <a:lnTo>
                    <a:pt x="8373110" y="323977"/>
                  </a:lnTo>
                  <a:lnTo>
                    <a:pt x="8392160" y="323977"/>
                  </a:lnTo>
                  <a:lnTo>
                    <a:pt x="8392160" y="1543558"/>
                  </a:lnTo>
                  <a:lnTo>
                    <a:pt x="8373110" y="1543558"/>
                  </a:lnTo>
                  <a:lnTo>
                    <a:pt x="8392160" y="1543558"/>
                  </a:lnTo>
                  <a:cubicBezTo>
                    <a:pt x="8392160" y="1722755"/>
                    <a:pt x="8244586" y="1867535"/>
                    <a:pt x="8063230" y="1867535"/>
                  </a:cubicBezTo>
                  <a:lnTo>
                    <a:pt x="8063230" y="1848485"/>
                  </a:lnTo>
                  <a:lnTo>
                    <a:pt x="8063230" y="1867535"/>
                  </a:lnTo>
                  <a:lnTo>
                    <a:pt x="328930" y="1867535"/>
                  </a:lnTo>
                  <a:lnTo>
                    <a:pt x="328930" y="1848485"/>
                  </a:lnTo>
                  <a:lnTo>
                    <a:pt x="328930" y="1867535"/>
                  </a:lnTo>
                  <a:cubicBezTo>
                    <a:pt x="147574" y="1867535"/>
                    <a:pt x="0" y="1722755"/>
                    <a:pt x="0" y="1543558"/>
                  </a:cubicBezTo>
                  <a:lnTo>
                    <a:pt x="0" y="323977"/>
                  </a:lnTo>
                  <a:lnTo>
                    <a:pt x="19050" y="323977"/>
                  </a:lnTo>
                  <a:lnTo>
                    <a:pt x="0" y="323977"/>
                  </a:lnTo>
                  <a:moveTo>
                    <a:pt x="38100" y="323977"/>
                  </a:moveTo>
                  <a:lnTo>
                    <a:pt x="38100" y="1543558"/>
                  </a:lnTo>
                  <a:lnTo>
                    <a:pt x="19050" y="1543558"/>
                  </a:lnTo>
                  <a:lnTo>
                    <a:pt x="38100" y="1543558"/>
                  </a:lnTo>
                  <a:cubicBezTo>
                    <a:pt x="38100" y="1701165"/>
                    <a:pt x="168021" y="1829435"/>
                    <a:pt x="328930" y="1829435"/>
                  </a:cubicBezTo>
                  <a:lnTo>
                    <a:pt x="8063230" y="1829435"/>
                  </a:lnTo>
                  <a:cubicBezTo>
                    <a:pt x="8224139" y="1829435"/>
                    <a:pt x="8354060" y="1701165"/>
                    <a:pt x="8354060" y="1543558"/>
                  </a:cubicBezTo>
                  <a:lnTo>
                    <a:pt x="8354060" y="323977"/>
                  </a:lnTo>
                  <a:cubicBezTo>
                    <a:pt x="8353933" y="166370"/>
                    <a:pt x="8224012" y="38100"/>
                    <a:pt x="8063103" y="38100"/>
                  </a:cubicBezTo>
                  <a:lnTo>
                    <a:pt x="328930" y="38100"/>
                  </a:lnTo>
                  <a:lnTo>
                    <a:pt x="328930" y="19050"/>
                  </a:lnTo>
                  <a:lnTo>
                    <a:pt x="328930" y="38100"/>
                  </a:lnTo>
                  <a:cubicBezTo>
                    <a:pt x="168021" y="38100"/>
                    <a:pt x="38100" y="166370"/>
                    <a:pt x="38100" y="3239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87972" y="1441885"/>
            <a:ext cx="6160084" cy="1266682"/>
            <a:chOff x="0" y="0"/>
            <a:chExt cx="8213446" cy="16889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13450" cy="1688912"/>
            </a:xfrm>
            <a:custGeom>
              <a:avLst/>
              <a:gdLst/>
              <a:ahLst/>
              <a:cxnLst/>
              <a:rect r="r" b="b" t="t" l="l"/>
              <a:pathLst>
                <a:path h="1688912" w="8213450">
                  <a:moveTo>
                    <a:pt x="0" y="0"/>
                  </a:moveTo>
                  <a:lnTo>
                    <a:pt x="8213450" y="0"/>
                  </a:lnTo>
                  <a:lnTo>
                    <a:pt x="8213450" y="1688912"/>
                  </a:lnTo>
                  <a:lnTo>
                    <a:pt x="0" y="168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758" r="0" b="-4475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8213446" cy="1641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7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Gamification for Habit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11606936" y="-2067697"/>
            <a:ext cx="1126226" cy="11167186"/>
            <a:chOff x="0" y="0"/>
            <a:chExt cx="1501635" cy="148895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9050" y="19050"/>
              <a:ext cx="1463548" cy="14851507"/>
            </a:xfrm>
            <a:custGeom>
              <a:avLst/>
              <a:gdLst/>
              <a:ahLst/>
              <a:cxnLst/>
              <a:rect r="r" b="b" t="t" l="l"/>
              <a:pathLst>
                <a:path h="14851507" w="1463548">
                  <a:moveTo>
                    <a:pt x="243967" y="0"/>
                  </a:moveTo>
                  <a:lnTo>
                    <a:pt x="1219581" y="0"/>
                  </a:lnTo>
                  <a:cubicBezTo>
                    <a:pt x="1354328" y="0"/>
                    <a:pt x="1463548" y="111760"/>
                    <a:pt x="1463548" y="249682"/>
                  </a:cubicBezTo>
                  <a:lnTo>
                    <a:pt x="1463548" y="14851507"/>
                  </a:lnTo>
                  <a:lnTo>
                    <a:pt x="0" y="14851507"/>
                  </a:lnTo>
                  <a:lnTo>
                    <a:pt x="0" y="249682"/>
                  </a:lnTo>
                  <a:cubicBezTo>
                    <a:pt x="0" y="111760"/>
                    <a:pt x="109220" y="0"/>
                    <a:pt x="243967" y="0"/>
                  </a:cubicBez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01648" cy="14889607"/>
            </a:xfrm>
            <a:custGeom>
              <a:avLst/>
              <a:gdLst/>
              <a:ahLst/>
              <a:cxnLst/>
              <a:rect r="r" b="b" t="t" l="l"/>
              <a:pathLst>
                <a:path h="14889607" w="1501648">
                  <a:moveTo>
                    <a:pt x="263017" y="0"/>
                  </a:moveTo>
                  <a:lnTo>
                    <a:pt x="1238631" y="0"/>
                  </a:lnTo>
                  <a:lnTo>
                    <a:pt x="1238631" y="19050"/>
                  </a:lnTo>
                  <a:lnTo>
                    <a:pt x="1238631" y="0"/>
                  </a:lnTo>
                  <a:cubicBezTo>
                    <a:pt x="1384300" y="0"/>
                    <a:pt x="1501648" y="120650"/>
                    <a:pt x="1501648" y="268732"/>
                  </a:cubicBezTo>
                  <a:lnTo>
                    <a:pt x="1482598" y="268732"/>
                  </a:lnTo>
                  <a:lnTo>
                    <a:pt x="1501648" y="268732"/>
                  </a:lnTo>
                  <a:lnTo>
                    <a:pt x="1501648" y="14870557"/>
                  </a:lnTo>
                  <a:cubicBezTo>
                    <a:pt x="1501648" y="14881098"/>
                    <a:pt x="1493139" y="14889607"/>
                    <a:pt x="1482598" y="14889607"/>
                  </a:cubicBezTo>
                  <a:lnTo>
                    <a:pt x="19050" y="14889607"/>
                  </a:lnTo>
                  <a:cubicBezTo>
                    <a:pt x="8509" y="14889607"/>
                    <a:pt x="0" y="14881098"/>
                    <a:pt x="0" y="14870557"/>
                  </a:cubicBezTo>
                  <a:lnTo>
                    <a:pt x="0" y="268732"/>
                  </a:lnTo>
                  <a:lnTo>
                    <a:pt x="19050" y="268732"/>
                  </a:lnTo>
                  <a:lnTo>
                    <a:pt x="0" y="268732"/>
                  </a:lnTo>
                  <a:cubicBezTo>
                    <a:pt x="0" y="120650"/>
                    <a:pt x="117348" y="0"/>
                    <a:pt x="263017" y="0"/>
                  </a:cubicBezTo>
                  <a:cubicBezTo>
                    <a:pt x="266573" y="0"/>
                    <a:pt x="270129" y="1016"/>
                    <a:pt x="273050" y="2921"/>
                  </a:cubicBezTo>
                  <a:lnTo>
                    <a:pt x="263017" y="19050"/>
                  </a:lnTo>
                  <a:lnTo>
                    <a:pt x="263017" y="0"/>
                  </a:lnTo>
                  <a:moveTo>
                    <a:pt x="263017" y="38100"/>
                  </a:moveTo>
                  <a:cubicBezTo>
                    <a:pt x="259461" y="38100"/>
                    <a:pt x="255905" y="37084"/>
                    <a:pt x="252984" y="35179"/>
                  </a:cubicBezTo>
                  <a:lnTo>
                    <a:pt x="263017" y="19050"/>
                  </a:lnTo>
                  <a:lnTo>
                    <a:pt x="263017" y="38100"/>
                  </a:lnTo>
                  <a:cubicBezTo>
                    <a:pt x="139192" y="38100"/>
                    <a:pt x="38100" y="140970"/>
                    <a:pt x="38100" y="268732"/>
                  </a:cubicBezTo>
                  <a:lnTo>
                    <a:pt x="38100" y="14870557"/>
                  </a:lnTo>
                  <a:lnTo>
                    <a:pt x="19050" y="14870557"/>
                  </a:lnTo>
                  <a:lnTo>
                    <a:pt x="19050" y="14851507"/>
                  </a:lnTo>
                  <a:lnTo>
                    <a:pt x="1482598" y="14851507"/>
                  </a:lnTo>
                  <a:lnTo>
                    <a:pt x="1482598" y="14870557"/>
                  </a:lnTo>
                  <a:lnTo>
                    <a:pt x="1463548" y="14870557"/>
                  </a:lnTo>
                  <a:lnTo>
                    <a:pt x="1463548" y="268732"/>
                  </a:lnTo>
                  <a:cubicBezTo>
                    <a:pt x="1463548" y="140970"/>
                    <a:pt x="1362456" y="38100"/>
                    <a:pt x="1238631" y="38100"/>
                  </a:cubicBezTo>
                  <a:lnTo>
                    <a:pt x="263017" y="3810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586461" y="3006366"/>
            <a:ext cx="11113599" cy="1019061"/>
            <a:chOff x="0" y="0"/>
            <a:chExt cx="14818131" cy="13587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818136" cy="1358748"/>
            </a:xfrm>
            <a:custGeom>
              <a:avLst/>
              <a:gdLst/>
              <a:ahLst/>
              <a:cxnLst/>
              <a:rect r="r" b="b" t="t" l="l"/>
              <a:pathLst>
                <a:path h="1358748" w="14818136">
                  <a:moveTo>
                    <a:pt x="0" y="0"/>
                  </a:moveTo>
                  <a:lnTo>
                    <a:pt x="14818136" y="0"/>
                  </a:lnTo>
                  <a:lnTo>
                    <a:pt x="14818136" y="1358748"/>
                  </a:lnTo>
                  <a:lnTo>
                    <a:pt x="0" y="13587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498" r="0" b="-16249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14818131" cy="1339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17634" lvl="2">
                <a:lnSpc>
                  <a:spcPts val="2106"/>
                </a:lnSpc>
                <a:buFont typeface="Arial"/>
                <a:buChar char="⚬"/>
              </a:pP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Shows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burnout rate, spending sprees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and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essential money tips 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in real time.</a:t>
              </a:r>
            </a:p>
            <a:p>
              <a:pPr algn="l" marL="352901" indent="-117634" lvl="2">
                <a:lnSpc>
                  <a:spcPts val="2106"/>
                </a:lnSpc>
                <a:buFont typeface="Arial"/>
                <a:buChar char="⚬"/>
              </a:pP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Helps users immediately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understand spending patterns 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and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take quick corrective actions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20992" y="2815580"/>
            <a:ext cx="6294044" cy="1400642"/>
            <a:chOff x="0" y="0"/>
            <a:chExt cx="8392058" cy="18675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9050" y="19050"/>
              <a:ext cx="8354060" cy="1829435"/>
            </a:xfrm>
            <a:custGeom>
              <a:avLst/>
              <a:gdLst/>
              <a:ahLst/>
              <a:cxnLst/>
              <a:rect r="r" b="b" t="t" l="l"/>
              <a:pathLst>
                <a:path h="1829435" w="8354060">
                  <a:moveTo>
                    <a:pt x="0" y="304927"/>
                  </a:moveTo>
                  <a:cubicBezTo>
                    <a:pt x="0" y="136525"/>
                    <a:pt x="138684" y="0"/>
                    <a:pt x="309880" y="0"/>
                  </a:cubicBezTo>
                  <a:lnTo>
                    <a:pt x="8044180" y="0"/>
                  </a:lnTo>
                  <a:cubicBezTo>
                    <a:pt x="8215249" y="0"/>
                    <a:pt x="8354060" y="136525"/>
                    <a:pt x="8354060" y="304927"/>
                  </a:cubicBezTo>
                  <a:lnTo>
                    <a:pt x="8354060" y="1524508"/>
                  </a:lnTo>
                  <a:cubicBezTo>
                    <a:pt x="8354060" y="1692910"/>
                    <a:pt x="8215376" y="1829435"/>
                    <a:pt x="8044180" y="1829435"/>
                  </a:cubicBezTo>
                  <a:lnTo>
                    <a:pt x="309880" y="1829435"/>
                  </a:lnTo>
                  <a:cubicBezTo>
                    <a:pt x="138811" y="1829435"/>
                    <a:pt x="0" y="1692910"/>
                    <a:pt x="0" y="1524508"/>
                  </a:cubicBez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392160" cy="1867535"/>
            </a:xfrm>
            <a:custGeom>
              <a:avLst/>
              <a:gdLst/>
              <a:ahLst/>
              <a:cxnLst/>
              <a:rect r="r" b="b" t="t" l="l"/>
              <a:pathLst>
                <a:path h="1867535" w="8392160">
                  <a:moveTo>
                    <a:pt x="0" y="323977"/>
                  </a:moveTo>
                  <a:cubicBezTo>
                    <a:pt x="0" y="144780"/>
                    <a:pt x="147574" y="0"/>
                    <a:pt x="328930" y="0"/>
                  </a:cubicBezTo>
                  <a:lnTo>
                    <a:pt x="8063230" y="0"/>
                  </a:lnTo>
                  <a:lnTo>
                    <a:pt x="8063230" y="19050"/>
                  </a:lnTo>
                  <a:lnTo>
                    <a:pt x="8063230" y="0"/>
                  </a:lnTo>
                  <a:cubicBezTo>
                    <a:pt x="8244586" y="0"/>
                    <a:pt x="8392160" y="144780"/>
                    <a:pt x="8392160" y="323977"/>
                  </a:cubicBezTo>
                  <a:lnTo>
                    <a:pt x="8373110" y="323977"/>
                  </a:lnTo>
                  <a:lnTo>
                    <a:pt x="8392160" y="323977"/>
                  </a:lnTo>
                  <a:lnTo>
                    <a:pt x="8392160" y="1543558"/>
                  </a:lnTo>
                  <a:lnTo>
                    <a:pt x="8373110" y="1543558"/>
                  </a:lnTo>
                  <a:lnTo>
                    <a:pt x="8392160" y="1543558"/>
                  </a:lnTo>
                  <a:cubicBezTo>
                    <a:pt x="8392160" y="1722755"/>
                    <a:pt x="8244586" y="1867535"/>
                    <a:pt x="8063230" y="1867535"/>
                  </a:cubicBezTo>
                  <a:lnTo>
                    <a:pt x="8063230" y="1848485"/>
                  </a:lnTo>
                  <a:lnTo>
                    <a:pt x="8063230" y="1867535"/>
                  </a:lnTo>
                  <a:lnTo>
                    <a:pt x="328930" y="1867535"/>
                  </a:lnTo>
                  <a:lnTo>
                    <a:pt x="328930" y="1848485"/>
                  </a:lnTo>
                  <a:lnTo>
                    <a:pt x="328930" y="1867535"/>
                  </a:lnTo>
                  <a:cubicBezTo>
                    <a:pt x="147574" y="1867535"/>
                    <a:pt x="0" y="1722755"/>
                    <a:pt x="0" y="1543558"/>
                  </a:cubicBezTo>
                  <a:lnTo>
                    <a:pt x="0" y="323977"/>
                  </a:lnTo>
                  <a:lnTo>
                    <a:pt x="19050" y="323977"/>
                  </a:lnTo>
                  <a:lnTo>
                    <a:pt x="0" y="323977"/>
                  </a:lnTo>
                  <a:moveTo>
                    <a:pt x="38100" y="323977"/>
                  </a:moveTo>
                  <a:lnTo>
                    <a:pt x="38100" y="1543558"/>
                  </a:lnTo>
                  <a:lnTo>
                    <a:pt x="19050" y="1543558"/>
                  </a:lnTo>
                  <a:lnTo>
                    <a:pt x="38100" y="1543558"/>
                  </a:lnTo>
                  <a:cubicBezTo>
                    <a:pt x="38100" y="1701165"/>
                    <a:pt x="168021" y="1829435"/>
                    <a:pt x="328930" y="1829435"/>
                  </a:cubicBezTo>
                  <a:lnTo>
                    <a:pt x="8063230" y="1829435"/>
                  </a:lnTo>
                  <a:cubicBezTo>
                    <a:pt x="8224139" y="1829435"/>
                    <a:pt x="8354060" y="1701165"/>
                    <a:pt x="8354060" y="1543558"/>
                  </a:cubicBezTo>
                  <a:lnTo>
                    <a:pt x="8354060" y="323977"/>
                  </a:lnTo>
                  <a:cubicBezTo>
                    <a:pt x="8353933" y="166370"/>
                    <a:pt x="8224012" y="38100"/>
                    <a:pt x="8063103" y="38100"/>
                  </a:cubicBezTo>
                  <a:lnTo>
                    <a:pt x="328930" y="38100"/>
                  </a:lnTo>
                  <a:lnTo>
                    <a:pt x="328930" y="19050"/>
                  </a:lnTo>
                  <a:lnTo>
                    <a:pt x="328930" y="38100"/>
                  </a:lnTo>
                  <a:cubicBezTo>
                    <a:pt x="168021" y="38100"/>
                    <a:pt x="38100" y="166370"/>
                    <a:pt x="38100" y="3239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87972" y="2882551"/>
            <a:ext cx="6160084" cy="1266682"/>
            <a:chOff x="0" y="0"/>
            <a:chExt cx="8213446" cy="16889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13450" cy="1688912"/>
            </a:xfrm>
            <a:custGeom>
              <a:avLst/>
              <a:gdLst/>
              <a:ahLst/>
              <a:cxnLst/>
              <a:rect r="r" b="b" t="t" l="l"/>
              <a:pathLst>
                <a:path h="1688912" w="8213450">
                  <a:moveTo>
                    <a:pt x="0" y="0"/>
                  </a:moveTo>
                  <a:lnTo>
                    <a:pt x="8213450" y="0"/>
                  </a:lnTo>
                  <a:lnTo>
                    <a:pt x="8213450" y="1688912"/>
                  </a:lnTo>
                  <a:lnTo>
                    <a:pt x="0" y="168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758" r="0" b="-4475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47625"/>
              <a:ext cx="8213446" cy="1641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7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Quick Insight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11569351" y="-543573"/>
            <a:ext cx="1126226" cy="11167186"/>
            <a:chOff x="0" y="0"/>
            <a:chExt cx="1501635" cy="148895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9050" y="19050"/>
              <a:ext cx="1463548" cy="14851507"/>
            </a:xfrm>
            <a:custGeom>
              <a:avLst/>
              <a:gdLst/>
              <a:ahLst/>
              <a:cxnLst/>
              <a:rect r="r" b="b" t="t" l="l"/>
              <a:pathLst>
                <a:path h="14851507" w="1463548">
                  <a:moveTo>
                    <a:pt x="243967" y="0"/>
                  </a:moveTo>
                  <a:lnTo>
                    <a:pt x="1219581" y="0"/>
                  </a:lnTo>
                  <a:cubicBezTo>
                    <a:pt x="1354328" y="0"/>
                    <a:pt x="1463548" y="111760"/>
                    <a:pt x="1463548" y="249682"/>
                  </a:cubicBezTo>
                  <a:lnTo>
                    <a:pt x="1463548" y="14851507"/>
                  </a:lnTo>
                  <a:lnTo>
                    <a:pt x="0" y="14851507"/>
                  </a:lnTo>
                  <a:lnTo>
                    <a:pt x="0" y="249682"/>
                  </a:lnTo>
                  <a:cubicBezTo>
                    <a:pt x="0" y="111760"/>
                    <a:pt x="109220" y="0"/>
                    <a:pt x="243967" y="0"/>
                  </a:cubicBez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01648" cy="14889607"/>
            </a:xfrm>
            <a:custGeom>
              <a:avLst/>
              <a:gdLst/>
              <a:ahLst/>
              <a:cxnLst/>
              <a:rect r="r" b="b" t="t" l="l"/>
              <a:pathLst>
                <a:path h="14889607" w="1501648">
                  <a:moveTo>
                    <a:pt x="263017" y="0"/>
                  </a:moveTo>
                  <a:lnTo>
                    <a:pt x="1238631" y="0"/>
                  </a:lnTo>
                  <a:lnTo>
                    <a:pt x="1238631" y="19050"/>
                  </a:lnTo>
                  <a:lnTo>
                    <a:pt x="1238631" y="0"/>
                  </a:lnTo>
                  <a:cubicBezTo>
                    <a:pt x="1384300" y="0"/>
                    <a:pt x="1501648" y="120650"/>
                    <a:pt x="1501648" y="268732"/>
                  </a:cubicBezTo>
                  <a:lnTo>
                    <a:pt x="1482598" y="268732"/>
                  </a:lnTo>
                  <a:lnTo>
                    <a:pt x="1501648" y="268732"/>
                  </a:lnTo>
                  <a:lnTo>
                    <a:pt x="1501648" y="14870557"/>
                  </a:lnTo>
                  <a:cubicBezTo>
                    <a:pt x="1501648" y="14881098"/>
                    <a:pt x="1493139" y="14889607"/>
                    <a:pt x="1482598" y="14889607"/>
                  </a:cubicBezTo>
                  <a:lnTo>
                    <a:pt x="19050" y="14889607"/>
                  </a:lnTo>
                  <a:cubicBezTo>
                    <a:pt x="8509" y="14889607"/>
                    <a:pt x="0" y="14881098"/>
                    <a:pt x="0" y="14870557"/>
                  </a:cubicBezTo>
                  <a:lnTo>
                    <a:pt x="0" y="268732"/>
                  </a:lnTo>
                  <a:lnTo>
                    <a:pt x="19050" y="268732"/>
                  </a:lnTo>
                  <a:lnTo>
                    <a:pt x="0" y="268732"/>
                  </a:lnTo>
                  <a:cubicBezTo>
                    <a:pt x="0" y="120650"/>
                    <a:pt x="117348" y="0"/>
                    <a:pt x="263017" y="0"/>
                  </a:cubicBezTo>
                  <a:cubicBezTo>
                    <a:pt x="266573" y="0"/>
                    <a:pt x="270129" y="1016"/>
                    <a:pt x="273050" y="2921"/>
                  </a:cubicBezTo>
                  <a:lnTo>
                    <a:pt x="263017" y="19050"/>
                  </a:lnTo>
                  <a:lnTo>
                    <a:pt x="263017" y="0"/>
                  </a:lnTo>
                  <a:moveTo>
                    <a:pt x="263017" y="38100"/>
                  </a:moveTo>
                  <a:cubicBezTo>
                    <a:pt x="259461" y="38100"/>
                    <a:pt x="255905" y="37084"/>
                    <a:pt x="252984" y="35179"/>
                  </a:cubicBezTo>
                  <a:lnTo>
                    <a:pt x="263017" y="19050"/>
                  </a:lnTo>
                  <a:lnTo>
                    <a:pt x="263017" y="38100"/>
                  </a:lnTo>
                  <a:cubicBezTo>
                    <a:pt x="139192" y="38100"/>
                    <a:pt x="38100" y="140970"/>
                    <a:pt x="38100" y="268732"/>
                  </a:cubicBezTo>
                  <a:lnTo>
                    <a:pt x="38100" y="14870557"/>
                  </a:lnTo>
                  <a:lnTo>
                    <a:pt x="19050" y="14870557"/>
                  </a:lnTo>
                  <a:lnTo>
                    <a:pt x="19050" y="14851507"/>
                  </a:lnTo>
                  <a:lnTo>
                    <a:pt x="1482598" y="14851507"/>
                  </a:lnTo>
                  <a:lnTo>
                    <a:pt x="1482598" y="14870557"/>
                  </a:lnTo>
                  <a:lnTo>
                    <a:pt x="1463548" y="14870557"/>
                  </a:lnTo>
                  <a:lnTo>
                    <a:pt x="1463548" y="268732"/>
                  </a:lnTo>
                  <a:cubicBezTo>
                    <a:pt x="1463548" y="140970"/>
                    <a:pt x="1362456" y="38100"/>
                    <a:pt x="1238631" y="38100"/>
                  </a:cubicBezTo>
                  <a:lnTo>
                    <a:pt x="263017" y="3810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48866" y="4530490"/>
            <a:ext cx="11113599" cy="1019061"/>
            <a:chOff x="0" y="0"/>
            <a:chExt cx="14818131" cy="13587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818136" cy="1358748"/>
            </a:xfrm>
            <a:custGeom>
              <a:avLst/>
              <a:gdLst/>
              <a:ahLst/>
              <a:cxnLst/>
              <a:rect r="r" b="b" t="t" l="l"/>
              <a:pathLst>
                <a:path h="1358748" w="14818136">
                  <a:moveTo>
                    <a:pt x="0" y="0"/>
                  </a:moveTo>
                  <a:lnTo>
                    <a:pt x="14818136" y="0"/>
                  </a:lnTo>
                  <a:lnTo>
                    <a:pt x="14818136" y="1358748"/>
                  </a:lnTo>
                  <a:lnTo>
                    <a:pt x="0" y="13587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498" r="0" b="-16249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14818131" cy="1339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17634" lvl="2">
                <a:lnSpc>
                  <a:spcPts val="2106"/>
                </a:lnSpc>
                <a:buFont typeface="Arial"/>
                <a:buChar char="⚬"/>
              </a:pP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Add expenses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via snap, voice, or text 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in any language, automatically detecting transactions, savings/goals, or income.</a:t>
              </a:r>
            </a:p>
            <a:p>
              <a:pPr algn="l" marL="352901" indent="-117634" lvl="2">
                <a:lnSpc>
                  <a:spcPts val="2106"/>
                </a:lnSpc>
                <a:buFont typeface="Arial"/>
                <a:buChar char="⚬"/>
              </a:pP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Classifies entries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into necessary vs luxury (wants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)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and 30+ subcategories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processing multiple inputs in under 5 seconds.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20992" y="4256246"/>
            <a:ext cx="6294044" cy="1400642"/>
            <a:chOff x="0" y="0"/>
            <a:chExt cx="8392058" cy="186752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9050" y="19050"/>
              <a:ext cx="8354060" cy="1829435"/>
            </a:xfrm>
            <a:custGeom>
              <a:avLst/>
              <a:gdLst/>
              <a:ahLst/>
              <a:cxnLst/>
              <a:rect r="r" b="b" t="t" l="l"/>
              <a:pathLst>
                <a:path h="1829435" w="8354060">
                  <a:moveTo>
                    <a:pt x="0" y="304927"/>
                  </a:moveTo>
                  <a:cubicBezTo>
                    <a:pt x="0" y="136525"/>
                    <a:pt x="138684" y="0"/>
                    <a:pt x="309880" y="0"/>
                  </a:cubicBezTo>
                  <a:lnTo>
                    <a:pt x="8044180" y="0"/>
                  </a:lnTo>
                  <a:cubicBezTo>
                    <a:pt x="8215249" y="0"/>
                    <a:pt x="8354060" y="136525"/>
                    <a:pt x="8354060" y="304927"/>
                  </a:cubicBezTo>
                  <a:lnTo>
                    <a:pt x="8354060" y="1524508"/>
                  </a:lnTo>
                  <a:cubicBezTo>
                    <a:pt x="8354060" y="1692910"/>
                    <a:pt x="8215376" y="1829435"/>
                    <a:pt x="8044180" y="1829435"/>
                  </a:cubicBezTo>
                  <a:lnTo>
                    <a:pt x="309880" y="1829435"/>
                  </a:lnTo>
                  <a:cubicBezTo>
                    <a:pt x="138811" y="1829435"/>
                    <a:pt x="0" y="1692910"/>
                    <a:pt x="0" y="1524508"/>
                  </a:cubicBez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392160" cy="1867535"/>
            </a:xfrm>
            <a:custGeom>
              <a:avLst/>
              <a:gdLst/>
              <a:ahLst/>
              <a:cxnLst/>
              <a:rect r="r" b="b" t="t" l="l"/>
              <a:pathLst>
                <a:path h="1867535" w="8392160">
                  <a:moveTo>
                    <a:pt x="0" y="323977"/>
                  </a:moveTo>
                  <a:cubicBezTo>
                    <a:pt x="0" y="144780"/>
                    <a:pt x="147574" y="0"/>
                    <a:pt x="328930" y="0"/>
                  </a:cubicBezTo>
                  <a:lnTo>
                    <a:pt x="8063230" y="0"/>
                  </a:lnTo>
                  <a:lnTo>
                    <a:pt x="8063230" y="19050"/>
                  </a:lnTo>
                  <a:lnTo>
                    <a:pt x="8063230" y="0"/>
                  </a:lnTo>
                  <a:cubicBezTo>
                    <a:pt x="8244586" y="0"/>
                    <a:pt x="8392160" y="144780"/>
                    <a:pt x="8392160" y="323977"/>
                  </a:cubicBezTo>
                  <a:lnTo>
                    <a:pt x="8373110" y="323977"/>
                  </a:lnTo>
                  <a:lnTo>
                    <a:pt x="8392160" y="323977"/>
                  </a:lnTo>
                  <a:lnTo>
                    <a:pt x="8392160" y="1543558"/>
                  </a:lnTo>
                  <a:lnTo>
                    <a:pt x="8373110" y="1543558"/>
                  </a:lnTo>
                  <a:lnTo>
                    <a:pt x="8392160" y="1543558"/>
                  </a:lnTo>
                  <a:cubicBezTo>
                    <a:pt x="8392160" y="1722755"/>
                    <a:pt x="8244586" y="1867535"/>
                    <a:pt x="8063230" y="1867535"/>
                  </a:cubicBezTo>
                  <a:lnTo>
                    <a:pt x="8063230" y="1848485"/>
                  </a:lnTo>
                  <a:lnTo>
                    <a:pt x="8063230" y="1867535"/>
                  </a:lnTo>
                  <a:lnTo>
                    <a:pt x="328930" y="1867535"/>
                  </a:lnTo>
                  <a:lnTo>
                    <a:pt x="328930" y="1848485"/>
                  </a:lnTo>
                  <a:lnTo>
                    <a:pt x="328930" y="1867535"/>
                  </a:lnTo>
                  <a:cubicBezTo>
                    <a:pt x="147574" y="1867535"/>
                    <a:pt x="0" y="1722755"/>
                    <a:pt x="0" y="1543558"/>
                  </a:cubicBezTo>
                  <a:lnTo>
                    <a:pt x="0" y="323977"/>
                  </a:lnTo>
                  <a:lnTo>
                    <a:pt x="19050" y="323977"/>
                  </a:lnTo>
                  <a:lnTo>
                    <a:pt x="0" y="323977"/>
                  </a:lnTo>
                  <a:moveTo>
                    <a:pt x="38100" y="323977"/>
                  </a:moveTo>
                  <a:lnTo>
                    <a:pt x="38100" y="1543558"/>
                  </a:lnTo>
                  <a:lnTo>
                    <a:pt x="19050" y="1543558"/>
                  </a:lnTo>
                  <a:lnTo>
                    <a:pt x="38100" y="1543558"/>
                  </a:lnTo>
                  <a:cubicBezTo>
                    <a:pt x="38100" y="1701165"/>
                    <a:pt x="168021" y="1829435"/>
                    <a:pt x="328930" y="1829435"/>
                  </a:cubicBezTo>
                  <a:lnTo>
                    <a:pt x="8063230" y="1829435"/>
                  </a:lnTo>
                  <a:cubicBezTo>
                    <a:pt x="8224139" y="1829435"/>
                    <a:pt x="8354060" y="1701165"/>
                    <a:pt x="8354060" y="1543558"/>
                  </a:cubicBezTo>
                  <a:lnTo>
                    <a:pt x="8354060" y="323977"/>
                  </a:lnTo>
                  <a:cubicBezTo>
                    <a:pt x="8353933" y="166370"/>
                    <a:pt x="8224012" y="38100"/>
                    <a:pt x="8063103" y="38100"/>
                  </a:cubicBezTo>
                  <a:lnTo>
                    <a:pt x="328930" y="38100"/>
                  </a:lnTo>
                  <a:lnTo>
                    <a:pt x="328930" y="19050"/>
                  </a:lnTo>
                  <a:lnTo>
                    <a:pt x="328930" y="38100"/>
                  </a:lnTo>
                  <a:cubicBezTo>
                    <a:pt x="168021" y="38100"/>
                    <a:pt x="38100" y="166370"/>
                    <a:pt x="38100" y="3239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87972" y="4323226"/>
            <a:ext cx="6160084" cy="1266682"/>
            <a:chOff x="0" y="0"/>
            <a:chExt cx="8213446" cy="168891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13450" cy="1688912"/>
            </a:xfrm>
            <a:custGeom>
              <a:avLst/>
              <a:gdLst/>
              <a:ahLst/>
              <a:cxnLst/>
              <a:rect r="r" b="b" t="t" l="l"/>
              <a:pathLst>
                <a:path h="1688912" w="8213450">
                  <a:moveTo>
                    <a:pt x="0" y="0"/>
                  </a:moveTo>
                  <a:lnTo>
                    <a:pt x="8213450" y="0"/>
                  </a:lnTo>
                  <a:lnTo>
                    <a:pt x="8213450" y="1688912"/>
                  </a:lnTo>
                  <a:lnTo>
                    <a:pt x="0" y="168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758" r="0" b="-4475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47625"/>
              <a:ext cx="8213446" cy="1641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7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Smart, Fast &amp; Effortless Entry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5400000">
            <a:off x="11606936" y="813645"/>
            <a:ext cx="1126226" cy="11167186"/>
            <a:chOff x="0" y="0"/>
            <a:chExt cx="1501635" cy="1488958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9050" y="19050"/>
              <a:ext cx="1463548" cy="14851507"/>
            </a:xfrm>
            <a:custGeom>
              <a:avLst/>
              <a:gdLst/>
              <a:ahLst/>
              <a:cxnLst/>
              <a:rect r="r" b="b" t="t" l="l"/>
              <a:pathLst>
                <a:path h="14851507" w="1463548">
                  <a:moveTo>
                    <a:pt x="243967" y="0"/>
                  </a:moveTo>
                  <a:lnTo>
                    <a:pt x="1219581" y="0"/>
                  </a:lnTo>
                  <a:cubicBezTo>
                    <a:pt x="1354328" y="0"/>
                    <a:pt x="1463548" y="111760"/>
                    <a:pt x="1463548" y="249682"/>
                  </a:cubicBezTo>
                  <a:lnTo>
                    <a:pt x="1463548" y="14851507"/>
                  </a:lnTo>
                  <a:lnTo>
                    <a:pt x="0" y="14851507"/>
                  </a:lnTo>
                  <a:lnTo>
                    <a:pt x="0" y="249682"/>
                  </a:lnTo>
                  <a:cubicBezTo>
                    <a:pt x="0" y="111760"/>
                    <a:pt x="109220" y="0"/>
                    <a:pt x="243967" y="0"/>
                  </a:cubicBez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01648" cy="14889607"/>
            </a:xfrm>
            <a:custGeom>
              <a:avLst/>
              <a:gdLst/>
              <a:ahLst/>
              <a:cxnLst/>
              <a:rect r="r" b="b" t="t" l="l"/>
              <a:pathLst>
                <a:path h="14889607" w="1501648">
                  <a:moveTo>
                    <a:pt x="263017" y="0"/>
                  </a:moveTo>
                  <a:lnTo>
                    <a:pt x="1238631" y="0"/>
                  </a:lnTo>
                  <a:lnTo>
                    <a:pt x="1238631" y="19050"/>
                  </a:lnTo>
                  <a:lnTo>
                    <a:pt x="1238631" y="0"/>
                  </a:lnTo>
                  <a:cubicBezTo>
                    <a:pt x="1384300" y="0"/>
                    <a:pt x="1501648" y="120650"/>
                    <a:pt x="1501648" y="268732"/>
                  </a:cubicBezTo>
                  <a:lnTo>
                    <a:pt x="1482598" y="268732"/>
                  </a:lnTo>
                  <a:lnTo>
                    <a:pt x="1501648" y="268732"/>
                  </a:lnTo>
                  <a:lnTo>
                    <a:pt x="1501648" y="14870557"/>
                  </a:lnTo>
                  <a:cubicBezTo>
                    <a:pt x="1501648" y="14881098"/>
                    <a:pt x="1493139" y="14889607"/>
                    <a:pt x="1482598" y="14889607"/>
                  </a:cubicBezTo>
                  <a:lnTo>
                    <a:pt x="19050" y="14889607"/>
                  </a:lnTo>
                  <a:cubicBezTo>
                    <a:pt x="8509" y="14889607"/>
                    <a:pt x="0" y="14881098"/>
                    <a:pt x="0" y="14870557"/>
                  </a:cubicBezTo>
                  <a:lnTo>
                    <a:pt x="0" y="268732"/>
                  </a:lnTo>
                  <a:lnTo>
                    <a:pt x="19050" y="268732"/>
                  </a:lnTo>
                  <a:lnTo>
                    <a:pt x="0" y="268732"/>
                  </a:lnTo>
                  <a:cubicBezTo>
                    <a:pt x="0" y="120650"/>
                    <a:pt x="117348" y="0"/>
                    <a:pt x="263017" y="0"/>
                  </a:cubicBezTo>
                  <a:cubicBezTo>
                    <a:pt x="266573" y="0"/>
                    <a:pt x="270129" y="1016"/>
                    <a:pt x="273050" y="2921"/>
                  </a:cubicBezTo>
                  <a:lnTo>
                    <a:pt x="263017" y="19050"/>
                  </a:lnTo>
                  <a:lnTo>
                    <a:pt x="263017" y="0"/>
                  </a:lnTo>
                  <a:moveTo>
                    <a:pt x="263017" y="38100"/>
                  </a:moveTo>
                  <a:cubicBezTo>
                    <a:pt x="259461" y="38100"/>
                    <a:pt x="255905" y="37084"/>
                    <a:pt x="252984" y="35179"/>
                  </a:cubicBezTo>
                  <a:lnTo>
                    <a:pt x="263017" y="19050"/>
                  </a:lnTo>
                  <a:lnTo>
                    <a:pt x="263017" y="38100"/>
                  </a:lnTo>
                  <a:cubicBezTo>
                    <a:pt x="139192" y="38100"/>
                    <a:pt x="38100" y="140970"/>
                    <a:pt x="38100" y="268732"/>
                  </a:cubicBezTo>
                  <a:lnTo>
                    <a:pt x="38100" y="14870557"/>
                  </a:lnTo>
                  <a:lnTo>
                    <a:pt x="19050" y="14870557"/>
                  </a:lnTo>
                  <a:lnTo>
                    <a:pt x="19050" y="14851507"/>
                  </a:lnTo>
                  <a:lnTo>
                    <a:pt x="1482598" y="14851507"/>
                  </a:lnTo>
                  <a:lnTo>
                    <a:pt x="1482598" y="14870557"/>
                  </a:lnTo>
                  <a:lnTo>
                    <a:pt x="1463548" y="14870557"/>
                  </a:lnTo>
                  <a:lnTo>
                    <a:pt x="1463548" y="268732"/>
                  </a:lnTo>
                  <a:cubicBezTo>
                    <a:pt x="1463548" y="140970"/>
                    <a:pt x="1362456" y="38100"/>
                    <a:pt x="1238631" y="38100"/>
                  </a:cubicBezTo>
                  <a:lnTo>
                    <a:pt x="263017" y="3810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586461" y="5887707"/>
            <a:ext cx="11113599" cy="1019061"/>
            <a:chOff x="0" y="0"/>
            <a:chExt cx="14818131" cy="13587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818136" cy="1358748"/>
            </a:xfrm>
            <a:custGeom>
              <a:avLst/>
              <a:gdLst/>
              <a:ahLst/>
              <a:cxnLst/>
              <a:rect r="r" b="b" t="t" l="l"/>
              <a:pathLst>
                <a:path h="1358748" w="14818136">
                  <a:moveTo>
                    <a:pt x="0" y="0"/>
                  </a:moveTo>
                  <a:lnTo>
                    <a:pt x="14818136" y="0"/>
                  </a:lnTo>
                  <a:lnTo>
                    <a:pt x="14818136" y="1358748"/>
                  </a:lnTo>
                  <a:lnTo>
                    <a:pt x="0" y="13587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498" r="0" b="-16249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19050"/>
              <a:ext cx="14818131" cy="1339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17634" lvl="2">
                <a:lnSpc>
                  <a:spcPts val="2106"/>
                </a:lnSpc>
                <a:buFont typeface="Arial"/>
                <a:buChar char="⚬"/>
              </a:pP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Supports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individuals, couples, roommates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and full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households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with shared or separate tracking.</a:t>
              </a:r>
            </a:p>
            <a:p>
              <a:pPr algn="l" marL="352901" indent="-117634" lvl="2">
                <a:lnSpc>
                  <a:spcPts val="2106"/>
                </a:lnSpc>
                <a:buFont typeface="Arial"/>
                <a:buChar char="⚬"/>
              </a:pP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Monitors each person’s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transactions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incomes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and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goals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with combined and individual dashboards.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20992" y="5696912"/>
            <a:ext cx="6294044" cy="1400642"/>
            <a:chOff x="0" y="0"/>
            <a:chExt cx="8392058" cy="186752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9050" y="19050"/>
              <a:ext cx="8354060" cy="1829435"/>
            </a:xfrm>
            <a:custGeom>
              <a:avLst/>
              <a:gdLst/>
              <a:ahLst/>
              <a:cxnLst/>
              <a:rect r="r" b="b" t="t" l="l"/>
              <a:pathLst>
                <a:path h="1829435" w="8354060">
                  <a:moveTo>
                    <a:pt x="0" y="304927"/>
                  </a:moveTo>
                  <a:cubicBezTo>
                    <a:pt x="0" y="136525"/>
                    <a:pt x="138684" y="0"/>
                    <a:pt x="309880" y="0"/>
                  </a:cubicBezTo>
                  <a:lnTo>
                    <a:pt x="8044180" y="0"/>
                  </a:lnTo>
                  <a:cubicBezTo>
                    <a:pt x="8215249" y="0"/>
                    <a:pt x="8354060" y="136525"/>
                    <a:pt x="8354060" y="304927"/>
                  </a:cubicBezTo>
                  <a:lnTo>
                    <a:pt x="8354060" y="1524508"/>
                  </a:lnTo>
                  <a:cubicBezTo>
                    <a:pt x="8354060" y="1692910"/>
                    <a:pt x="8215376" y="1829435"/>
                    <a:pt x="8044180" y="1829435"/>
                  </a:cubicBezTo>
                  <a:lnTo>
                    <a:pt x="309880" y="1829435"/>
                  </a:lnTo>
                  <a:cubicBezTo>
                    <a:pt x="138811" y="1829435"/>
                    <a:pt x="0" y="1692910"/>
                    <a:pt x="0" y="1524508"/>
                  </a:cubicBez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392160" cy="1867535"/>
            </a:xfrm>
            <a:custGeom>
              <a:avLst/>
              <a:gdLst/>
              <a:ahLst/>
              <a:cxnLst/>
              <a:rect r="r" b="b" t="t" l="l"/>
              <a:pathLst>
                <a:path h="1867535" w="8392160">
                  <a:moveTo>
                    <a:pt x="0" y="323977"/>
                  </a:moveTo>
                  <a:cubicBezTo>
                    <a:pt x="0" y="144780"/>
                    <a:pt x="147574" y="0"/>
                    <a:pt x="328930" y="0"/>
                  </a:cubicBezTo>
                  <a:lnTo>
                    <a:pt x="8063230" y="0"/>
                  </a:lnTo>
                  <a:lnTo>
                    <a:pt x="8063230" y="19050"/>
                  </a:lnTo>
                  <a:lnTo>
                    <a:pt x="8063230" y="0"/>
                  </a:lnTo>
                  <a:cubicBezTo>
                    <a:pt x="8244586" y="0"/>
                    <a:pt x="8392160" y="144780"/>
                    <a:pt x="8392160" y="323977"/>
                  </a:cubicBezTo>
                  <a:lnTo>
                    <a:pt x="8373110" y="323977"/>
                  </a:lnTo>
                  <a:lnTo>
                    <a:pt x="8392160" y="323977"/>
                  </a:lnTo>
                  <a:lnTo>
                    <a:pt x="8392160" y="1543558"/>
                  </a:lnTo>
                  <a:lnTo>
                    <a:pt x="8373110" y="1543558"/>
                  </a:lnTo>
                  <a:lnTo>
                    <a:pt x="8392160" y="1543558"/>
                  </a:lnTo>
                  <a:cubicBezTo>
                    <a:pt x="8392160" y="1722755"/>
                    <a:pt x="8244586" y="1867535"/>
                    <a:pt x="8063230" y="1867535"/>
                  </a:cubicBezTo>
                  <a:lnTo>
                    <a:pt x="8063230" y="1848485"/>
                  </a:lnTo>
                  <a:lnTo>
                    <a:pt x="8063230" y="1867535"/>
                  </a:lnTo>
                  <a:lnTo>
                    <a:pt x="328930" y="1867535"/>
                  </a:lnTo>
                  <a:lnTo>
                    <a:pt x="328930" y="1848485"/>
                  </a:lnTo>
                  <a:lnTo>
                    <a:pt x="328930" y="1867535"/>
                  </a:lnTo>
                  <a:cubicBezTo>
                    <a:pt x="147574" y="1867535"/>
                    <a:pt x="0" y="1722755"/>
                    <a:pt x="0" y="1543558"/>
                  </a:cubicBezTo>
                  <a:lnTo>
                    <a:pt x="0" y="323977"/>
                  </a:lnTo>
                  <a:lnTo>
                    <a:pt x="19050" y="323977"/>
                  </a:lnTo>
                  <a:lnTo>
                    <a:pt x="0" y="323977"/>
                  </a:lnTo>
                  <a:moveTo>
                    <a:pt x="38100" y="323977"/>
                  </a:moveTo>
                  <a:lnTo>
                    <a:pt x="38100" y="1543558"/>
                  </a:lnTo>
                  <a:lnTo>
                    <a:pt x="19050" y="1543558"/>
                  </a:lnTo>
                  <a:lnTo>
                    <a:pt x="38100" y="1543558"/>
                  </a:lnTo>
                  <a:cubicBezTo>
                    <a:pt x="38100" y="1701165"/>
                    <a:pt x="168021" y="1829435"/>
                    <a:pt x="328930" y="1829435"/>
                  </a:cubicBezTo>
                  <a:lnTo>
                    <a:pt x="8063230" y="1829435"/>
                  </a:lnTo>
                  <a:cubicBezTo>
                    <a:pt x="8224139" y="1829435"/>
                    <a:pt x="8354060" y="1701165"/>
                    <a:pt x="8354060" y="1543558"/>
                  </a:cubicBezTo>
                  <a:lnTo>
                    <a:pt x="8354060" y="323977"/>
                  </a:lnTo>
                  <a:cubicBezTo>
                    <a:pt x="8353933" y="166370"/>
                    <a:pt x="8224012" y="38100"/>
                    <a:pt x="8063103" y="38100"/>
                  </a:cubicBezTo>
                  <a:lnTo>
                    <a:pt x="328930" y="38100"/>
                  </a:lnTo>
                  <a:lnTo>
                    <a:pt x="328930" y="19050"/>
                  </a:lnTo>
                  <a:lnTo>
                    <a:pt x="328930" y="38100"/>
                  </a:lnTo>
                  <a:cubicBezTo>
                    <a:pt x="168021" y="38100"/>
                    <a:pt x="38100" y="166370"/>
                    <a:pt x="38100" y="3239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87972" y="5763892"/>
            <a:ext cx="6160084" cy="1266682"/>
            <a:chOff x="0" y="0"/>
            <a:chExt cx="8213446" cy="168891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13450" cy="1688912"/>
            </a:xfrm>
            <a:custGeom>
              <a:avLst/>
              <a:gdLst/>
              <a:ahLst/>
              <a:cxnLst/>
              <a:rect r="r" b="b" t="t" l="l"/>
              <a:pathLst>
                <a:path h="1688912" w="8213450">
                  <a:moveTo>
                    <a:pt x="0" y="0"/>
                  </a:moveTo>
                  <a:lnTo>
                    <a:pt x="8213450" y="0"/>
                  </a:lnTo>
                  <a:lnTo>
                    <a:pt x="8213450" y="1688912"/>
                  </a:lnTo>
                  <a:lnTo>
                    <a:pt x="0" y="168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758" r="0" b="-4475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47625"/>
              <a:ext cx="8213446" cy="1641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7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Multi-Person Finance Management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5400000">
            <a:off x="11606936" y="2254310"/>
            <a:ext cx="1126226" cy="11167186"/>
            <a:chOff x="0" y="0"/>
            <a:chExt cx="1501635" cy="1488958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9050" y="19050"/>
              <a:ext cx="1463548" cy="14851507"/>
            </a:xfrm>
            <a:custGeom>
              <a:avLst/>
              <a:gdLst/>
              <a:ahLst/>
              <a:cxnLst/>
              <a:rect r="r" b="b" t="t" l="l"/>
              <a:pathLst>
                <a:path h="14851507" w="1463548">
                  <a:moveTo>
                    <a:pt x="243967" y="0"/>
                  </a:moveTo>
                  <a:lnTo>
                    <a:pt x="1219581" y="0"/>
                  </a:lnTo>
                  <a:cubicBezTo>
                    <a:pt x="1354328" y="0"/>
                    <a:pt x="1463548" y="111760"/>
                    <a:pt x="1463548" y="249682"/>
                  </a:cubicBezTo>
                  <a:lnTo>
                    <a:pt x="1463548" y="14851507"/>
                  </a:lnTo>
                  <a:lnTo>
                    <a:pt x="0" y="14851507"/>
                  </a:lnTo>
                  <a:lnTo>
                    <a:pt x="0" y="249682"/>
                  </a:lnTo>
                  <a:cubicBezTo>
                    <a:pt x="0" y="111760"/>
                    <a:pt x="109220" y="0"/>
                    <a:pt x="243967" y="0"/>
                  </a:cubicBez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01648" cy="14889607"/>
            </a:xfrm>
            <a:custGeom>
              <a:avLst/>
              <a:gdLst/>
              <a:ahLst/>
              <a:cxnLst/>
              <a:rect r="r" b="b" t="t" l="l"/>
              <a:pathLst>
                <a:path h="14889607" w="1501648">
                  <a:moveTo>
                    <a:pt x="263017" y="0"/>
                  </a:moveTo>
                  <a:lnTo>
                    <a:pt x="1238631" y="0"/>
                  </a:lnTo>
                  <a:lnTo>
                    <a:pt x="1238631" y="19050"/>
                  </a:lnTo>
                  <a:lnTo>
                    <a:pt x="1238631" y="0"/>
                  </a:lnTo>
                  <a:cubicBezTo>
                    <a:pt x="1384300" y="0"/>
                    <a:pt x="1501648" y="120650"/>
                    <a:pt x="1501648" y="268732"/>
                  </a:cubicBezTo>
                  <a:lnTo>
                    <a:pt x="1482598" y="268732"/>
                  </a:lnTo>
                  <a:lnTo>
                    <a:pt x="1501648" y="268732"/>
                  </a:lnTo>
                  <a:lnTo>
                    <a:pt x="1501648" y="14870557"/>
                  </a:lnTo>
                  <a:cubicBezTo>
                    <a:pt x="1501648" y="14881098"/>
                    <a:pt x="1493139" y="14889607"/>
                    <a:pt x="1482598" y="14889607"/>
                  </a:cubicBezTo>
                  <a:lnTo>
                    <a:pt x="19050" y="14889607"/>
                  </a:lnTo>
                  <a:cubicBezTo>
                    <a:pt x="8509" y="14889607"/>
                    <a:pt x="0" y="14881098"/>
                    <a:pt x="0" y="14870557"/>
                  </a:cubicBezTo>
                  <a:lnTo>
                    <a:pt x="0" y="268732"/>
                  </a:lnTo>
                  <a:lnTo>
                    <a:pt x="19050" y="268732"/>
                  </a:lnTo>
                  <a:lnTo>
                    <a:pt x="0" y="268732"/>
                  </a:lnTo>
                  <a:cubicBezTo>
                    <a:pt x="0" y="120650"/>
                    <a:pt x="117348" y="0"/>
                    <a:pt x="263017" y="0"/>
                  </a:cubicBezTo>
                  <a:cubicBezTo>
                    <a:pt x="266573" y="0"/>
                    <a:pt x="270129" y="1016"/>
                    <a:pt x="273050" y="2921"/>
                  </a:cubicBezTo>
                  <a:lnTo>
                    <a:pt x="263017" y="19050"/>
                  </a:lnTo>
                  <a:lnTo>
                    <a:pt x="263017" y="0"/>
                  </a:lnTo>
                  <a:moveTo>
                    <a:pt x="263017" y="38100"/>
                  </a:moveTo>
                  <a:cubicBezTo>
                    <a:pt x="259461" y="38100"/>
                    <a:pt x="255905" y="37084"/>
                    <a:pt x="252984" y="35179"/>
                  </a:cubicBezTo>
                  <a:lnTo>
                    <a:pt x="263017" y="19050"/>
                  </a:lnTo>
                  <a:lnTo>
                    <a:pt x="263017" y="38100"/>
                  </a:lnTo>
                  <a:cubicBezTo>
                    <a:pt x="139192" y="38100"/>
                    <a:pt x="38100" y="140970"/>
                    <a:pt x="38100" y="268732"/>
                  </a:cubicBezTo>
                  <a:lnTo>
                    <a:pt x="38100" y="14870557"/>
                  </a:lnTo>
                  <a:lnTo>
                    <a:pt x="19050" y="14870557"/>
                  </a:lnTo>
                  <a:lnTo>
                    <a:pt x="19050" y="14851507"/>
                  </a:lnTo>
                  <a:lnTo>
                    <a:pt x="1482598" y="14851507"/>
                  </a:lnTo>
                  <a:lnTo>
                    <a:pt x="1482598" y="14870557"/>
                  </a:lnTo>
                  <a:lnTo>
                    <a:pt x="1463548" y="14870557"/>
                  </a:lnTo>
                  <a:lnTo>
                    <a:pt x="1463548" y="268732"/>
                  </a:lnTo>
                  <a:cubicBezTo>
                    <a:pt x="1463548" y="140970"/>
                    <a:pt x="1362456" y="38100"/>
                    <a:pt x="1238631" y="38100"/>
                  </a:cubicBezTo>
                  <a:lnTo>
                    <a:pt x="263017" y="3810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586461" y="7328373"/>
            <a:ext cx="11113599" cy="1019061"/>
            <a:chOff x="0" y="0"/>
            <a:chExt cx="14818131" cy="13587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818136" cy="1358748"/>
            </a:xfrm>
            <a:custGeom>
              <a:avLst/>
              <a:gdLst/>
              <a:ahLst/>
              <a:cxnLst/>
              <a:rect r="r" b="b" t="t" l="l"/>
              <a:pathLst>
                <a:path h="1358748" w="14818136">
                  <a:moveTo>
                    <a:pt x="0" y="0"/>
                  </a:moveTo>
                  <a:lnTo>
                    <a:pt x="14818136" y="0"/>
                  </a:lnTo>
                  <a:lnTo>
                    <a:pt x="14818136" y="1358748"/>
                  </a:lnTo>
                  <a:lnTo>
                    <a:pt x="0" y="13587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498" r="0" b="-16249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19050"/>
              <a:ext cx="14818131" cy="1339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17634" lvl="2">
                <a:lnSpc>
                  <a:spcPts val="2106"/>
                </a:lnSpc>
                <a:buFont typeface="Arial"/>
                <a:buChar char="⚬"/>
              </a:pP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Generates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weekly, monthly, and custom reports 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that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reveal exactly where money 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is going.</a:t>
              </a:r>
            </a:p>
            <a:p>
              <a:pPr algn="l" marL="352901" indent="-117634" lvl="2">
                <a:lnSpc>
                  <a:spcPts val="2106"/>
                </a:lnSpc>
                <a:buFont typeface="Arial"/>
                <a:buChar char="⚬"/>
              </a:pP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Detects trends such as top spending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categories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biggest spender, hidden leakages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and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long-term patterns.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320992" y="7137578"/>
            <a:ext cx="6294044" cy="1400642"/>
            <a:chOff x="0" y="0"/>
            <a:chExt cx="8392058" cy="186752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9050" y="19050"/>
              <a:ext cx="8354060" cy="1829435"/>
            </a:xfrm>
            <a:custGeom>
              <a:avLst/>
              <a:gdLst/>
              <a:ahLst/>
              <a:cxnLst/>
              <a:rect r="r" b="b" t="t" l="l"/>
              <a:pathLst>
                <a:path h="1829435" w="8354060">
                  <a:moveTo>
                    <a:pt x="0" y="304927"/>
                  </a:moveTo>
                  <a:cubicBezTo>
                    <a:pt x="0" y="136525"/>
                    <a:pt x="138684" y="0"/>
                    <a:pt x="309880" y="0"/>
                  </a:cubicBezTo>
                  <a:lnTo>
                    <a:pt x="8044180" y="0"/>
                  </a:lnTo>
                  <a:cubicBezTo>
                    <a:pt x="8215249" y="0"/>
                    <a:pt x="8354060" y="136525"/>
                    <a:pt x="8354060" y="304927"/>
                  </a:cubicBezTo>
                  <a:lnTo>
                    <a:pt x="8354060" y="1524508"/>
                  </a:lnTo>
                  <a:cubicBezTo>
                    <a:pt x="8354060" y="1692910"/>
                    <a:pt x="8215376" y="1829435"/>
                    <a:pt x="8044180" y="1829435"/>
                  </a:cubicBezTo>
                  <a:lnTo>
                    <a:pt x="309880" y="1829435"/>
                  </a:lnTo>
                  <a:cubicBezTo>
                    <a:pt x="138811" y="1829435"/>
                    <a:pt x="0" y="1692910"/>
                    <a:pt x="0" y="1524508"/>
                  </a:cubicBez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392160" cy="1867535"/>
            </a:xfrm>
            <a:custGeom>
              <a:avLst/>
              <a:gdLst/>
              <a:ahLst/>
              <a:cxnLst/>
              <a:rect r="r" b="b" t="t" l="l"/>
              <a:pathLst>
                <a:path h="1867535" w="8392160">
                  <a:moveTo>
                    <a:pt x="0" y="323977"/>
                  </a:moveTo>
                  <a:cubicBezTo>
                    <a:pt x="0" y="144780"/>
                    <a:pt x="147574" y="0"/>
                    <a:pt x="328930" y="0"/>
                  </a:cubicBezTo>
                  <a:lnTo>
                    <a:pt x="8063230" y="0"/>
                  </a:lnTo>
                  <a:lnTo>
                    <a:pt x="8063230" y="19050"/>
                  </a:lnTo>
                  <a:lnTo>
                    <a:pt x="8063230" y="0"/>
                  </a:lnTo>
                  <a:cubicBezTo>
                    <a:pt x="8244586" y="0"/>
                    <a:pt x="8392160" y="144780"/>
                    <a:pt x="8392160" y="323977"/>
                  </a:cubicBezTo>
                  <a:lnTo>
                    <a:pt x="8373110" y="323977"/>
                  </a:lnTo>
                  <a:lnTo>
                    <a:pt x="8392160" y="323977"/>
                  </a:lnTo>
                  <a:lnTo>
                    <a:pt x="8392160" y="1543558"/>
                  </a:lnTo>
                  <a:lnTo>
                    <a:pt x="8373110" y="1543558"/>
                  </a:lnTo>
                  <a:lnTo>
                    <a:pt x="8392160" y="1543558"/>
                  </a:lnTo>
                  <a:cubicBezTo>
                    <a:pt x="8392160" y="1722755"/>
                    <a:pt x="8244586" y="1867535"/>
                    <a:pt x="8063230" y="1867535"/>
                  </a:cubicBezTo>
                  <a:lnTo>
                    <a:pt x="8063230" y="1848485"/>
                  </a:lnTo>
                  <a:lnTo>
                    <a:pt x="8063230" y="1867535"/>
                  </a:lnTo>
                  <a:lnTo>
                    <a:pt x="328930" y="1867535"/>
                  </a:lnTo>
                  <a:lnTo>
                    <a:pt x="328930" y="1848485"/>
                  </a:lnTo>
                  <a:lnTo>
                    <a:pt x="328930" y="1867535"/>
                  </a:lnTo>
                  <a:cubicBezTo>
                    <a:pt x="147574" y="1867535"/>
                    <a:pt x="0" y="1722755"/>
                    <a:pt x="0" y="1543558"/>
                  </a:cubicBezTo>
                  <a:lnTo>
                    <a:pt x="0" y="323977"/>
                  </a:lnTo>
                  <a:lnTo>
                    <a:pt x="19050" y="323977"/>
                  </a:lnTo>
                  <a:lnTo>
                    <a:pt x="0" y="323977"/>
                  </a:lnTo>
                  <a:moveTo>
                    <a:pt x="38100" y="323977"/>
                  </a:moveTo>
                  <a:lnTo>
                    <a:pt x="38100" y="1543558"/>
                  </a:lnTo>
                  <a:lnTo>
                    <a:pt x="19050" y="1543558"/>
                  </a:lnTo>
                  <a:lnTo>
                    <a:pt x="38100" y="1543558"/>
                  </a:lnTo>
                  <a:cubicBezTo>
                    <a:pt x="38100" y="1701165"/>
                    <a:pt x="168021" y="1829435"/>
                    <a:pt x="328930" y="1829435"/>
                  </a:cubicBezTo>
                  <a:lnTo>
                    <a:pt x="8063230" y="1829435"/>
                  </a:lnTo>
                  <a:cubicBezTo>
                    <a:pt x="8224139" y="1829435"/>
                    <a:pt x="8354060" y="1701165"/>
                    <a:pt x="8354060" y="1543558"/>
                  </a:cubicBezTo>
                  <a:lnTo>
                    <a:pt x="8354060" y="323977"/>
                  </a:lnTo>
                  <a:cubicBezTo>
                    <a:pt x="8353933" y="166370"/>
                    <a:pt x="8224012" y="38100"/>
                    <a:pt x="8063103" y="38100"/>
                  </a:cubicBezTo>
                  <a:lnTo>
                    <a:pt x="328930" y="38100"/>
                  </a:lnTo>
                  <a:lnTo>
                    <a:pt x="328930" y="19050"/>
                  </a:lnTo>
                  <a:lnTo>
                    <a:pt x="328930" y="38100"/>
                  </a:lnTo>
                  <a:cubicBezTo>
                    <a:pt x="168021" y="38100"/>
                    <a:pt x="38100" y="166370"/>
                    <a:pt x="38100" y="3239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387972" y="7204558"/>
            <a:ext cx="6160084" cy="1266682"/>
            <a:chOff x="0" y="0"/>
            <a:chExt cx="8213446" cy="168891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213450" cy="1688912"/>
            </a:xfrm>
            <a:custGeom>
              <a:avLst/>
              <a:gdLst/>
              <a:ahLst/>
              <a:cxnLst/>
              <a:rect r="r" b="b" t="t" l="l"/>
              <a:pathLst>
                <a:path h="1688912" w="8213450">
                  <a:moveTo>
                    <a:pt x="0" y="0"/>
                  </a:moveTo>
                  <a:lnTo>
                    <a:pt x="8213450" y="0"/>
                  </a:lnTo>
                  <a:lnTo>
                    <a:pt x="8213450" y="1688912"/>
                  </a:lnTo>
                  <a:lnTo>
                    <a:pt x="0" y="168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758" r="0" b="-4475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47625"/>
              <a:ext cx="8213446" cy="1641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7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Deep Insights &amp; Long-Term Analysis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5400000">
            <a:off x="11606936" y="3694976"/>
            <a:ext cx="1126226" cy="11167186"/>
            <a:chOff x="0" y="0"/>
            <a:chExt cx="1501635" cy="1488958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9050" y="19050"/>
              <a:ext cx="1463548" cy="14851507"/>
            </a:xfrm>
            <a:custGeom>
              <a:avLst/>
              <a:gdLst/>
              <a:ahLst/>
              <a:cxnLst/>
              <a:rect r="r" b="b" t="t" l="l"/>
              <a:pathLst>
                <a:path h="14851507" w="1463548">
                  <a:moveTo>
                    <a:pt x="243967" y="0"/>
                  </a:moveTo>
                  <a:lnTo>
                    <a:pt x="1219581" y="0"/>
                  </a:lnTo>
                  <a:cubicBezTo>
                    <a:pt x="1354328" y="0"/>
                    <a:pt x="1463548" y="111760"/>
                    <a:pt x="1463548" y="249682"/>
                  </a:cubicBezTo>
                  <a:lnTo>
                    <a:pt x="1463548" y="14851507"/>
                  </a:lnTo>
                  <a:lnTo>
                    <a:pt x="0" y="14851507"/>
                  </a:lnTo>
                  <a:lnTo>
                    <a:pt x="0" y="249682"/>
                  </a:lnTo>
                  <a:cubicBezTo>
                    <a:pt x="0" y="111760"/>
                    <a:pt x="109220" y="0"/>
                    <a:pt x="243967" y="0"/>
                  </a:cubicBez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01648" cy="14889607"/>
            </a:xfrm>
            <a:custGeom>
              <a:avLst/>
              <a:gdLst/>
              <a:ahLst/>
              <a:cxnLst/>
              <a:rect r="r" b="b" t="t" l="l"/>
              <a:pathLst>
                <a:path h="14889607" w="1501648">
                  <a:moveTo>
                    <a:pt x="263017" y="0"/>
                  </a:moveTo>
                  <a:lnTo>
                    <a:pt x="1238631" y="0"/>
                  </a:lnTo>
                  <a:lnTo>
                    <a:pt x="1238631" y="19050"/>
                  </a:lnTo>
                  <a:lnTo>
                    <a:pt x="1238631" y="0"/>
                  </a:lnTo>
                  <a:cubicBezTo>
                    <a:pt x="1384300" y="0"/>
                    <a:pt x="1501648" y="120650"/>
                    <a:pt x="1501648" y="268732"/>
                  </a:cubicBezTo>
                  <a:lnTo>
                    <a:pt x="1482598" y="268732"/>
                  </a:lnTo>
                  <a:lnTo>
                    <a:pt x="1501648" y="268732"/>
                  </a:lnTo>
                  <a:lnTo>
                    <a:pt x="1501648" y="14870557"/>
                  </a:lnTo>
                  <a:cubicBezTo>
                    <a:pt x="1501648" y="14881098"/>
                    <a:pt x="1493139" y="14889607"/>
                    <a:pt x="1482598" y="14889607"/>
                  </a:cubicBezTo>
                  <a:lnTo>
                    <a:pt x="19050" y="14889607"/>
                  </a:lnTo>
                  <a:cubicBezTo>
                    <a:pt x="8509" y="14889607"/>
                    <a:pt x="0" y="14881098"/>
                    <a:pt x="0" y="14870557"/>
                  </a:cubicBezTo>
                  <a:lnTo>
                    <a:pt x="0" y="268732"/>
                  </a:lnTo>
                  <a:lnTo>
                    <a:pt x="19050" y="268732"/>
                  </a:lnTo>
                  <a:lnTo>
                    <a:pt x="0" y="268732"/>
                  </a:lnTo>
                  <a:cubicBezTo>
                    <a:pt x="0" y="120650"/>
                    <a:pt x="117348" y="0"/>
                    <a:pt x="263017" y="0"/>
                  </a:cubicBezTo>
                  <a:cubicBezTo>
                    <a:pt x="266573" y="0"/>
                    <a:pt x="270129" y="1016"/>
                    <a:pt x="273050" y="2921"/>
                  </a:cubicBezTo>
                  <a:lnTo>
                    <a:pt x="263017" y="19050"/>
                  </a:lnTo>
                  <a:lnTo>
                    <a:pt x="263017" y="0"/>
                  </a:lnTo>
                  <a:moveTo>
                    <a:pt x="263017" y="38100"/>
                  </a:moveTo>
                  <a:cubicBezTo>
                    <a:pt x="259461" y="38100"/>
                    <a:pt x="255905" y="37084"/>
                    <a:pt x="252984" y="35179"/>
                  </a:cubicBezTo>
                  <a:lnTo>
                    <a:pt x="263017" y="19050"/>
                  </a:lnTo>
                  <a:lnTo>
                    <a:pt x="263017" y="38100"/>
                  </a:lnTo>
                  <a:cubicBezTo>
                    <a:pt x="139192" y="38100"/>
                    <a:pt x="38100" y="140970"/>
                    <a:pt x="38100" y="268732"/>
                  </a:cubicBezTo>
                  <a:lnTo>
                    <a:pt x="38100" y="14870557"/>
                  </a:lnTo>
                  <a:lnTo>
                    <a:pt x="19050" y="14870557"/>
                  </a:lnTo>
                  <a:lnTo>
                    <a:pt x="19050" y="14851507"/>
                  </a:lnTo>
                  <a:lnTo>
                    <a:pt x="1482598" y="14851507"/>
                  </a:lnTo>
                  <a:lnTo>
                    <a:pt x="1482598" y="14870557"/>
                  </a:lnTo>
                  <a:lnTo>
                    <a:pt x="1463548" y="14870557"/>
                  </a:lnTo>
                  <a:lnTo>
                    <a:pt x="1463548" y="268732"/>
                  </a:lnTo>
                  <a:cubicBezTo>
                    <a:pt x="1463548" y="140970"/>
                    <a:pt x="1362456" y="38100"/>
                    <a:pt x="1238631" y="38100"/>
                  </a:cubicBezTo>
                  <a:lnTo>
                    <a:pt x="263017" y="3810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586461" y="8769039"/>
            <a:ext cx="11113599" cy="1019061"/>
            <a:chOff x="0" y="0"/>
            <a:chExt cx="14818131" cy="135874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818136" cy="1358748"/>
            </a:xfrm>
            <a:custGeom>
              <a:avLst/>
              <a:gdLst/>
              <a:ahLst/>
              <a:cxnLst/>
              <a:rect r="r" b="b" t="t" l="l"/>
              <a:pathLst>
                <a:path h="1358748" w="14818136">
                  <a:moveTo>
                    <a:pt x="0" y="0"/>
                  </a:moveTo>
                  <a:lnTo>
                    <a:pt x="14818136" y="0"/>
                  </a:lnTo>
                  <a:lnTo>
                    <a:pt x="14818136" y="1358748"/>
                  </a:lnTo>
                  <a:lnTo>
                    <a:pt x="0" y="13587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498" r="0" b="-16249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19050"/>
              <a:ext cx="14818131" cy="1339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17634" lvl="2">
                <a:lnSpc>
                  <a:spcPts val="2106"/>
                </a:lnSpc>
                <a:buFont typeface="Arial"/>
                <a:buChar char="⚬"/>
              </a:pP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RAG-based advisor gives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personalized saving tips, cheaper alternatives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and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habit insights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  <a:p>
              <a:pPr algn="l" marL="352901" indent="-117634" lvl="2">
                <a:lnSpc>
                  <a:spcPts val="2106"/>
                </a:lnSpc>
                <a:buFont typeface="Arial"/>
                <a:buChar char="⚬"/>
              </a:pP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Analyzes years to a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decade of history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identifying old receipts, Amazon purchases</a:t>
              </a:r>
              <a:r>
                <a:rPr lang="en-US" sz="195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b="true" sz="195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and spending patterns.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20992" y="8578253"/>
            <a:ext cx="6294044" cy="1400642"/>
            <a:chOff x="0" y="0"/>
            <a:chExt cx="8392058" cy="186752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9050" y="19050"/>
              <a:ext cx="8354060" cy="1829435"/>
            </a:xfrm>
            <a:custGeom>
              <a:avLst/>
              <a:gdLst/>
              <a:ahLst/>
              <a:cxnLst/>
              <a:rect r="r" b="b" t="t" l="l"/>
              <a:pathLst>
                <a:path h="1829435" w="8354060">
                  <a:moveTo>
                    <a:pt x="0" y="304927"/>
                  </a:moveTo>
                  <a:cubicBezTo>
                    <a:pt x="0" y="136525"/>
                    <a:pt x="138684" y="0"/>
                    <a:pt x="309880" y="0"/>
                  </a:cubicBezTo>
                  <a:lnTo>
                    <a:pt x="8044180" y="0"/>
                  </a:lnTo>
                  <a:cubicBezTo>
                    <a:pt x="8215249" y="0"/>
                    <a:pt x="8354060" y="136525"/>
                    <a:pt x="8354060" y="304927"/>
                  </a:cubicBezTo>
                  <a:lnTo>
                    <a:pt x="8354060" y="1524508"/>
                  </a:lnTo>
                  <a:cubicBezTo>
                    <a:pt x="8354060" y="1692910"/>
                    <a:pt x="8215376" y="1829435"/>
                    <a:pt x="8044180" y="1829435"/>
                  </a:cubicBezTo>
                  <a:lnTo>
                    <a:pt x="309880" y="1829435"/>
                  </a:lnTo>
                  <a:cubicBezTo>
                    <a:pt x="138811" y="1829435"/>
                    <a:pt x="0" y="1692910"/>
                    <a:pt x="0" y="1524508"/>
                  </a:cubicBez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392160" cy="1867535"/>
            </a:xfrm>
            <a:custGeom>
              <a:avLst/>
              <a:gdLst/>
              <a:ahLst/>
              <a:cxnLst/>
              <a:rect r="r" b="b" t="t" l="l"/>
              <a:pathLst>
                <a:path h="1867535" w="8392160">
                  <a:moveTo>
                    <a:pt x="0" y="323977"/>
                  </a:moveTo>
                  <a:cubicBezTo>
                    <a:pt x="0" y="144780"/>
                    <a:pt x="147574" y="0"/>
                    <a:pt x="328930" y="0"/>
                  </a:cubicBezTo>
                  <a:lnTo>
                    <a:pt x="8063230" y="0"/>
                  </a:lnTo>
                  <a:lnTo>
                    <a:pt x="8063230" y="19050"/>
                  </a:lnTo>
                  <a:lnTo>
                    <a:pt x="8063230" y="0"/>
                  </a:lnTo>
                  <a:cubicBezTo>
                    <a:pt x="8244586" y="0"/>
                    <a:pt x="8392160" y="144780"/>
                    <a:pt x="8392160" y="323977"/>
                  </a:cubicBezTo>
                  <a:lnTo>
                    <a:pt x="8373110" y="323977"/>
                  </a:lnTo>
                  <a:lnTo>
                    <a:pt x="8392160" y="323977"/>
                  </a:lnTo>
                  <a:lnTo>
                    <a:pt x="8392160" y="1543558"/>
                  </a:lnTo>
                  <a:lnTo>
                    <a:pt x="8373110" y="1543558"/>
                  </a:lnTo>
                  <a:lnTo>
                    <a:pt x="8392160" y="1543558"/>
                  </a:lnTo>
                  <a:cubicBezTo>
                    <a:pt x="8392160" y="1722755"/>
                    <a:pt x="8244586" y="1867535"/>
                    <a:pt x="8063230" y="1867535"/>
                  </a:cubicBezTo>
                  <a:lnTo>
                    <a:pt x="8063230" y="1848485"/>
                  </a:lnTo>
                  <a:lnTo>
                    <a:pt x="8063230" y="1867535"/>
                  </a:lnTo>
                  <a:lnTo>
                    <a:pt x="328930" y="1867535"/>
                  </a:lnTo>
                  <a:lnTo>
                    <a:pt x="328930" y="1848485"/>
                  </a:lnTo>
                  <a:lnTo>
                    <a:pt x="328930" y="1867535"/>
                  </a:lnTo>
                  <a:cubicBezTo>
                    <a:pt x="147574" y="1867535"/>
                    <a:pt x="0" y="1722755"/>
                    <a:pt x="0" y="1543558"/>
                  </a:cubicBezTo>
                  <a:lnTo>
                    <a:pt x="0" y="323977"/>
                  </a:lnTo>
                  <a:lnTo>
                    <a:pt x="19050" y="323977"/>
                  </a:lnTo>
                  <a:lnTo>
                    <a:pt x="0" y="323977"/>
                  </a:lnTo>
                  <a:moveTo>
                    <a:pt x="38100" y="323977"/>
                  </a:moveTo>
                  <a:lnTo>
                    <a:pt x="38100" y="1543558"/>
                  </a:lnTo>
                  <a:lnTo>
                    <a:pt x="19050" y="1543558"/>
                  </a:lnTo>
                  <a:lnTo>
                    <a:pt x="38100" y="1543558"/>
                  </a:lnTo>
                  <a:cubicBezTo>
                    <a:pt x="38100" y="1701165"/>
                    <a:pt x="168021" y="1829435"/>
                    <a:pt x="328930" y="1829435"/>
                  </a:cubicBezTo>
                  <a:lnTo>
                    <a:pt x="8063230" y="1829435"/>
                  </a:lnTo>
                  <a:cubicBezTo>
                    <a:pt x="8224139" y="1829435"/>
                    <a:pt x="8354060" y="1701165"/>
                    <a:pt x="8354060" y="1543558"/>
                  </a:cubicBezTo>
                  <a:lnTo>
                    <a:pt x="8354060" y="323977"/>
                  </a:lnTo>
                  <a:cubicBezTo>
                    <a:pt x="8353933" y="166370"/>
                    <a:pt x="8224012" y="38100"/>
                    <a:pt x="8063103" y="38100"/>
                  </a:cubicBezTo>
                  <a:lnTo>
                    <a:pt x="328930" y="38100"/>
                  </a:lnTo>
                  <a:lnTo>
                    <a:pt x="328930" y="19050"/>
                  </a:lnTo>
                  <a:lnTo>
                    <a:pt x="328930" y="38100"/>
                  </a:lnTo>
                  <a:cubicBezTo>
                    <a:pt x="168021" y="38100"/>
                    <a:pt x="38100" y="166370"/>
                    <a:pt x="38100" y="3239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387972" y="8645223"/>
            <a:ext cx="6160084" cy="1266682"/>
            <a:chOff x="0" y="0"/>
            <a:chExt cx="8213446" cy="168891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213450" cy="1688912"/>
            </a:xfrm>
            <a:custGeom>
              <a:avLst/>
              <a:gdLst/>
              <a:ahLst/>
              <a:cxnLst/>
              <a:rect r="r" b="b" t="t" l="l"/>
              <a:pathLst>
                <a:path h="1688912" w="8213450">
                  <a:moveTo>
                    <a:pt x="0" y="0"/>
                  </a:moveTo>
                  <a:lnTo>
                    <a:pt x="8213450" y="0"/>
                  </a:lnTo>
                  <a:lnTo>
                    <a:pt x="8213450" y="1688912"/>
                  </a:lnTo>
                  <a:lnTo>
                    <a:pt x="0" y="168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758" r="0" b="-4475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47625"/>
              <a:ext cx="8213446" cy="1641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7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AI-Powered Financial Advisor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0265" y="-4488378"/>
            <a:ext cx="19483476" cy="16312281"/>
          </a:xfrm>
          <a:custGeom>
            <a:avLst/>
            <a:gdLst/>
            <a:ahLst/>
            <a:cxnLst/>
            <a:rect r="r" b="b" t="t" l="l"/>
            <a:pathLst>
              <a:path h="16312281" w="19483476">
                <a:moveTo>
                  <a:pt x="0" y="0"/>
                </a:moveTo>
                <a:lnTo>
                  <a:pt x="19483476" y="0"/>
                </a:lnTo>
                <a:lnTo>
                  <a:pt x="19483476" y="16312280"/>
                </a:lnTo>
                <a:lnTo>
                  <a:pt x="0" y="16312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20" r="0" b="-972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3611235" y="2275513"/>
            <a:ext cx="4324331" cy="7689713"/>
          </a:xfrm>
          <a:prstGeom prst="rect">
            <a:avLst/>
          </a:prstGeom>
        </p:spPr>
      </p:pic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3881704" y="1943462"/>
            <a:ext cx="3694967" cy="8012049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86738" y="2119598"/>
            <a:ext cx="3694967" cy="6047813"/>
            <a:chOff x="0" y="0"/>
            <a:chExt cx="4926622" cy="80637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26622" cy="8063746"/>
            </a:xfrm>
            <a:custGeom>
              <a:avLst/>
              <a:gdLst/>
              <a:ahLst/>
              <a:cxnLst/>
              <a:rect r="r" b="b" t="t" l="l"/>
              <a:pathLst>
                <a:path h="8063746" w="4926622">
                  <a:moveTo>
                    <a:pt x="0" y="0"/>
                  </a:moveTo>
                  <a:lnTo>
                    <a:pt x="4926622" y="0"/>
                  </a:lnTo>
                  <a:lnTo>
                    <a:pt x="4926622" y="8063746"/>
                  </a:lnTo>
                  <a:lnTo>
                    <a:pt x="0" y="806374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60003" t="0" r="-16000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4926622" cy="8063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0000"/>
                  </a:solidFill>
                  <a:latin typeface="Aptos"/>
                  <a:ea typeface="Aptos"/>
                  <a:cs typeface="Aptos"/>
                  <a:sym typeface="Aptos"/>
                </a:rPr>
                <a:t>Quick Insights</a:t>
              </a:r>
            </a:p>
            <a:p>
              <a:pPr algn="ctr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Alerts:</a:t>
              </a: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Detects category spikes.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Local Deals:</a:t>
              </a: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Finds cheaper nearby options.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Fast Sync:</a:t>
              </a: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12h smart cache + instant refresh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Burn Rate: </a:t>
              </a: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calculate the burn rate and warn the user.</a:t>
              </a:r>
            </a:p>
            <a:p>
              <a:pPr algn="l" marL="488632" indent="-244316" lvl="1">
                <a:lnSpc>
                  <a:spcPts val="32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8615" y="94602"/>
            <a:ext cx="15773400" cy="1988344"/>
            <a:chOff x="0" y="0"/>
            <a:chExt cx="21031200" cy="2651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Demo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466953" y="2165318"/>
            <a:ext cx="4779026" cy="1251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0000"/>
                </a:solidFill>
                <a:latin typeface="Aptos"/>
                <a:ea typeface="Aptos"/>
                <a:cs typeface="Aptos"/>
                <a:sym typeface="Aptos"/>
              </a:rPr>
              <a:t>AI Advisor</a:t>
            </a:r>
          </a:p>
          <a:p>
            <a:pPr algn="ctr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Affordability Check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: Tells if you can afford it.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Purchase Analysis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: Shows your long-term buying patterns.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Cheaper Alternatives: 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Suggests lower-cost options.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Personalized Insights: 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Gives custom advice with charts.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Learns You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: Improves as it learns your habits.</a:t>
            </a: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1670" y="-4192170"/>
            <a:ext cx="18593994" cy="18593994"/>
          </a:xfrm>
          <a:custGeom>
            <a:avLst/>
            <a:gdLst/>
            <a:ahLst/>
            <a:cxnLst/>
            <a:rect r="r" b="b" t="t" l="l"/>
            <a:pathLst>
              <a:path h="18593994" w="18593994">
                <a:moveTo>
                  <a:pt x="0" y="0"/>
                </a:moveTo>
                <a:lnTo>
                  <a:pt x="18593994" y="0"/>
                </a:lnTo>
                <a:lnTo>
                  <a:pt x="18593994" y="18593994"/>
                </a:lnTo>
                <a:lnTo>
                  <a:pt x="0" y="18593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3788952" y="1780746"/>
            <a:ext cx="3977021" cy="8409118"/>
          </a:xfrm>
          <a:prstGeom prst="rect">
            <a:avLst/>
          </a:prstGeom>
        </p:spPr>
      </p:pic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4157091" y="1741399"/>
            <a:ext cx="4751022" cy="8448475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321012" y="1808274"/>
            <a:ext cx="4048220" cy="5955478"/>
            <a:chOff x="0" y="0"/>
            <a:chExt cx="5397627" cy="79406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97630" cy="7940636"/>
            </a:xfrm>
            <a:custGeom>
              <a:avLst/>
              <a:gdLst/>
              <a:ahLst/>
              <a:cxnLst/>
              <a:rect r="r" b="b" t="t" l="l"/>
              <a:pathLst>
                <a:path h="7940636" w="5397630">
                  <a:moveTo>
                    <a:pt x="0" y="0"/>
                  </a:moveTo>
                  <a:lnTo>
                    <a:pt x="5397630" y="0"/>
                  </a:lnTo>
                  <a:lnTo>
                    <a:pt x="5397630" y="7940636"/>
                  </a:lnTo>
                  <a:lnTo>
                    <a:pt x="0" y="79406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556" t="0" r="-23556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397627" cy="79596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Smart Entry</a:t>
              </a:r>
            </a:p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Multi-Input:</a:t>
              </a: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Voice, image, text.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 Sort:</a:t>
              </a: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Income, savings, transactions.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Smart Tags:</a:t>
              </a: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30+ needs/wants subcategories.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Multi-Language:</a:t>
              </a: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Handles many languages.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Super Fast:</a:t>
              </a: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Done in under 30 seconds.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0" y="1808274"/>
            <a:ext cx="4187752" cy="5955478"/>
            <a:chOff x="0" y="0"/>
            <a:chExt cx="5583669" cy="79406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3674" cy="7940636"/>
            </a:xfrm>
            <a:custGeom>
              <a:avLst/>
              <a:gdLst/>
              <a:ahLst/>
              <a:cxnLst/>
              <a:rect r="r" b="b" t="t" l="l"/>
              <a:pathLst>
                <a:path h="7940636" w="5583674">
                  <a:moveTo>
                    <a:pt x="0" y="0"/>
                  </a:moveTo>
                  <a:lnTo>
                    <a:pt x="5583674" y="0"/>
                  </a:lnTo>
                  <a:lnTo>
                    <a:pt x="5583674" y="7940636"/>
                  </a:lnTo>
                  <a:lnTo>
                    <a:pt x="0" y="79406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32462" t="0" r="-13246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583669" cy="79596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Report Generation</a:t>
              </a:r>
            </a:p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Flexible Reports:</a:t>
              </a: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Weekly, monthly, custom timelines.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Visual Insights:</a:t>
              </a: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Trends, stats, graphs &amp; pie charts.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Deep Breakdown:</a:t>
              </a: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Every category &amp; subcategory analyzed.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Leak Detection:</a:t>
              </a: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Finds and flags hidden expense leaks.</a:t>
              </a: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DAHA0JWOt2o</dc:identifier>
  <dcterms:modified xsi:type="dcterms:W3CDTF">2011-08-01T06:04:30Z</dcterms:modified>
  <cp:revision>1</cp:revision>
  <dc:title>PitchDeck.pptx</dc:title>
</cp:coreProperties>
</file>